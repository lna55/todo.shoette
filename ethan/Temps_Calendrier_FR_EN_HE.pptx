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39" r:id="rId57"/>
    <p:sldId id="340" r:id="rId58"/>
    <p:sldId id="341" r:id="rId59"/>
    <p:sldId id="342" r:id="rId60"/>
    <p:sldId id="343" r:id="rId61"/>
    <p:sldId id="344" r:id="rId62"/>
    <p:sldId id="345" r:id="rId63"/>
    <p:sldId id="346" r:id="rId64"/>
    <p:sldId id="347" r:id="rId65"/>
    <p:sldId id="348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726"/>
  </p:normalViewPr>
  <p:slideViewPr>
    <p:cSldViewPr snapToGrid="0" snapToObjects="1">
      <p:cViewPr varScale="1">
        <p:scale>
          <a:sx n="116" d="100"/>
          <a:sy n="116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699022"/>
            <a:ext cx="8412480" cy="2587228"/>
          </a:xfrm>
        </p:spPr>
        <p:txBody>
          <a:bodyPr>
            <a:normAutofit/>
          </a:bodyPr>
          <a:lstStyle/>
          <a:p>
            <a:r>
              <a:rPr sz="7200" b="1">
                <a:solidFill>
                  <a:srgbClr val="D14F4F"/>
                </a:solidFill>
                <a:latin typeface="Aptos Display"/>
              </a:rPr>
              <a:t>L</a:t>
            </a:r>
            <a:r>
              <a:rPr sz="7200" b="1">
                <a:solidFill>
                  <a:srgbClr val="D1B04F"/>
                </a:solidFill>
                <a:latin typeface="Aptos Display"/>
              </a:rPr>
              <a:t>e</a:t>
            </a:r>
            <a:r>
              <a:rPr sz="7200" b="1">
                <a:solidFill>
                  <a:srgbClr val="90D14F"/>
                </a:solidFill>
                <a:latin typeface="Aptos Display"/>
              </a:rPr>
              <a:t> </a:t>
            </a:r>
            <a:r>
              <a:rPr sz="7200" b="1">
                <a:solidFill>
                  <a:srgbClr val="4FD16F"/>
                </a:solidFill>
                <a:latin typeface="Aptos Display"/>
              </a:rPr>
              <a:t>T</a:t>
            </a:r>
            <a:r>
              <a:rPr sz="7200" b="1">
                <a:solidFill>
                  <a:srgbClr val="4FD1D1"/>
                </a:solidFill>
                <a:latin typeface="Aptos Display"/>
              </a:rPr>
              <a:t>e</a:t>
            </a:r>
            <a:r>
              <a:rPr sz="7200" b="1">
                <a:solidFill>
                  <a:srgbClr val="4F6FD1"/>
                </a:solidFill>
                <a:latin typeface="Aptos Display"/>
              </a:rPr>
              <a:t>m</a:t>
            </a:r>
            <a:r>
              <a:rPr sz="7200" b="1">
                <a:solidFill>
                  <a:srgbClr val="904FD1"/>
                </a:solidFill>
                <a:latin typeface="Aptos Display"/>
              </a:rPr>
              <a:t>p</a:t>
            </a:r>
            <a:r>
              <a:rPr sz="7200" b="1">
                <a:solidFill>
                  <a:srgbClr val="D14FB0"/>
                </a:solidFill>
                <a:latin typeface="Aptos Display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  <a:p>
            <a:pPr algn="ctr"/>
            <a:r>
              <a:rPr sz="2600" i="1">
                <a:solidFill>
                  <a:srgbClr val="5A5A5A"/>
                </a:solidFill>
              </a:rPr>
              <a:t>Jours · Mois · Dates · Quand ?</a:t>
            </a: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date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תַּאֲרִיךְ</a:t>
            </a:r>
            <a:r>
              <a:rPr sz="2200">
                <a:solidFill>
                  <a:srgbClr val="FFFFFF"/>
                </a:solidFill>
              </a:rPr>
              <a:t>  (ta'arikh)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5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day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יוֹם</a:t>
            </a:r>
            <a:r>
              <a:rPr sz="2200">
                <a:solidFill>
                  <a:srgbClr val="FFFFFF"/>
                </a:solidFill>
              </a:rPr>
              <a:t>  (yom)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68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Semaine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week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שָׁבוּעַ</a:t>
            </a:r>
            <a:r>
              <a:rPr sz="2200">
                <a:solidFill>
                  <a:srgbClr val="FFFFFF"/>
                </a:solidFill>
              </a:rPr>
              <a:t>  (shavua)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7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Mois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month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חוֹדֶשׁ</a:t>
            </a:r>
            <a:r>
              <a:rPr sz="2200">
                <a:solidFill>
                  <a:srgbClr val="FFFFFF"/>
                </a:solidFill>
              </a:rPr>
              <a:t>  (chodesh)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8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Année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year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שָׁנָה</a:t>
            </a:r>
            <a:r>
              <a:rPr sz="2200">
                <a:solidFill>
                  <a:srgbClr val="FFFFFF"/>
                </a:solidFill>
              </a:rPr>
              <a:t>  (shana)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8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season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עוֹנָה</a:t>
            </a:r>
            <a:r>
              <a:rPr sz="2200">
                <a:solidFill>
                  <a:srgbClr val="FFFFFF"/>
                </a:solidFill>
              </a:rPr>
              <a:t>  (ona)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9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Week-end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weekend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סוֹף שָׁבוּעַ</a:t>
            </a:r>
            <a:r>
              <a:rPr sz="2200">
                <a:solidFill>
                  <a:srgbClr val="FFFFFF"/>
                </a:solidFill>
              </a:rPr>
              <a:t>  (sof shavua)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A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Calendrier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calendar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לוּחַ שָׁנָה</a:t>
            </a:r>
            <a:r>
              <a:rPr sz="2200">
                <a:solidFill>
                  <a:srgbClr val="000000"/>
                </a:solidFill>
              </a:rPr>
              <a:t>  (luach shana)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B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morning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בּוֹקֶר</a:t>
            </a:r>
            <a:r>
              <a:rPr sz="2200">
                <a:solidFill>
                  <a:srgbClr val="000000"/>
                </a:solidFill>
              </a:rPr>
              <a:t>  (boker)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Midi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noon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צָהֳרַיִם</a:t>
            </a:r>
            <a:r>
              <a:rPr sz="2200">
                <a:solidFill>
                  <a:srgbClr val="000000"/>
                </a:solidFill>
              </a:rPr>
              <a:t>  (tsohorayim)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C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Après-midi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afternoon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אַחַר הַצָּהֳרַיִם</a:t>
            </a:r>
            <a:r>
              <a:rPr sz="2200">
                <a:solidFill>
                  <a:srgbClr val="000000"/>
                </a:solidFill>
              </a:rPr>
              <a:t>  (achar hatsohorayim)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Soir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evening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עֶרֶב</a:t>
            </a:r>
            <a:r>
              <a:rPr sz="2200">
                <a:solidFill>
                  <a:srgbClr val="000000"/>
                </a:solidFill>
              </a:rPr>
              <a:t>  (erev)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Soirée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evening (party)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עֶרֶב</a:t>
            </a:r>
            <a:r>
              <a:rPr sz="2200">
                <a:solidFill>
                  <a:srgbClr val="000000"/>
                </a:solidFill>
              </a:rPr>
              <a:t>  (erev)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Nuit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night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לַיְלָה</a:t>
            </a:r>
            <a:r>
              <a:rPr sz="2200">
                <a:solidFill>
                  <a:srgbClr val="000000"/>
                </a:solidFill>
              </a:rPr>
              <a:t>  (layla)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Minuit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midnight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חֲצוֹת</a:t>
            </a:r>
            <a:r>
              <a:rPr sz="2200">
                <a:solidFill>
                  <a:srgbClr val="000000"/>
                </a:solidFill>
              </a:rPr>
              <a:t>  (chatsot)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Aube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daybreak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עֲלוֹת הַשַּׁחַר</a:t>
            </a:r>
            <a:r>
              <a:rPr sz="2200">
                <a:solidFill>
                  <a:srgbClr val="000000"/>
                </a:solidFill>
              </a:rPr>
              <a:t>  (alot hashachar)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Aurore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dawn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שַׁחַר</a:t>
            </a:r>
            <a:r>
              <a:rPr sz="2200">
                <a:solidFill>
                  <a:srgbClr val="000000"/>
                </a:solidFill>
              </a:rPr>
              <a:t>  (shachar)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000000"/>
                </a:solidFill>
              </a:rPr>
              <a:t>Crépuscule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dusk, twilight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דִּמְדּוּמִים</a:t>
            </a:r>
            <a:r>
              <a:rPr sz="2200">
                <a:solidFill>
                  <a:srgbClr val="000000"/>
                </a:solidFill>
              </a:rPr>
              <a:t>  (dimdumim)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</a:rPr>
              <a:t>Lever du soleil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sunrise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זְרִיחָה</a:t>
            </a:r>
            <a:r>
              <a:rPr sz="2200">
                <a:solidFill>
                  <a:srgbClr val="000000"/>
                </a:solidFill>
              </a:rPr>
              <a:t>  (zricha)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MOMENTS DE LA JOURNÉE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</a:rPr>
              <a:t>Coucher du soleil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sunset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שְׁקִיעָה</a:t>
            </a:r>
            <a:r>
              <a:rPr sz="2200">
                <a:solidFill>
                  <a:srgbClr val="000000"/>
                </a:solidFill>
              </a:rPr>
              <a:t>  (shki'a)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D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Lundi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Monday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שֵׁנִי</a:t>
            </a:r>
            <a:r>
              <a:rPr sz="2200">
                <a:solidFill>
                  <a:srgbClr val="000000"/>
                </a:solidFill>
              </a:rPr>
              <a:t>  (yom sheni)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Mardi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Tuesday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שְׁלִישִׁי</a:t>
            </a:r>
            <a:r>
              <a:rPr sz="2200">
                <a:solidFill>
                  <a:srgbClr val="000000"/>
                </a:solidFill>
              </a:rPr>
              <a:t>  (yom shlishi)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Mercredi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Wednesday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רְבִיעִי</a:t>
            </a:r>
            <a:r>
              <a:rPr sz="2200">
                <a:solidFill>
                  <a:srgbClr val="000000"/>
                </a:solidFill>
              </a:rPr>
              <a:t>  (yom revi'i)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Thursday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חֲמִישִׁי</a:t>
            </a:r>
            <a:r>
              <a:rPr sz="2200">
                <a:solidFill>
                  <a:srgbClr val="000000"/>
                </a:solidFill>
              </a:rPr>
              <a:t>  (yom chamishi)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Vendredi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Friday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שִׁישִׁי</a:t>
            </a:r>
            <a:r>
              <a:rPr sz="2200">
                <a:solidFill>
                  <a:srgbClr val="000000"/>
                </a:solidFill>
              </a:rPr>
              <a:t>  (yom shishi)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Samedi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Saturday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שַׁבָּת</a:t>
            </a:r>
            <a:r>
              <a:rPr sz="2200">
                <a:solidFill>
                  <a:srgbClr val="000000"/>
                </a:solidFill>
              </a:rPr>
              <a:t>  (shabat)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JOURS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Dimanche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Sunday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יוֹם רִאשׁוֹן</a:t>
            </a:r>
            <a:r>
              <a:rPr sz="2200">
                <a:solidFill>
                  <a:srgbClr val="000000"/>
                </a:solidFill>
              </a:rPr>
              <a:t>  (yom rishon)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Janvier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January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יָנוּאָר</a:t>
            </a:r>
            <a:r>
              <a:rPr sz="2200">
                <a:solidFill>
                  <a:srgbClr val="000000"/>
                </a:solidFill>
              </a:rPr>
              <a:t>  (yanuar)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Février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February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פֶבְּרוּאָר</a:t>
            </a:r>
            <a:r>
              <a:rPr sz="2200">
                <a:solidFill>
                  <a:srgbClr val="000000"/>
                </a:solidFill>
              </a:rPr>
              <a:t>  (februar)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Mars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March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מֶרְץ</a:t>
            </a:r>
            <a:r>
              <a:rPr sz="2200">
                <a:solidFill>
                  <a:srgbClr val="000000"/>
                </a:solidFill>
              </a:rPr>
              <a:t>  (merts)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Avril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April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אַפְּרִיל</a:t>
            </a:r>
            <a:r>
              <a:rPr sz="2200">
                <a:solidFill>
                  <a:srgbClr val="000000"/>
                </a:solidFill>
              </a:rPr>
              <a:t>  (april)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D1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000000"/>
                </a:solidFill>
              </a:rPr>
              <a:t>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May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מַאי</a:t>
            </a:r>
            <a:r>
              <a:rPr sz="2200">
                <a:solidFill>
                  <a:srgbClr val="000000"/>
                </a:solidFill>
              </a:rPr>
              <a:t>  (mai)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C4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000000"/>
                </a:solidFill>
              </a:rPr>
              <a:t>Juin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June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יוּנִי</a:t>
            </a:r>
            <a:r>
              <a:rPr sz="2200">
                <a:solidFill>
                  <a:srgbClr val="000000"/>
                </a:solidFill>
              </a:rPr>
              <a:t>  (yuni)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B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Juillet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</a:rPr>
              <a:t>July</a:t>
            </a:r>
          </a:p>
          <a:p>
            <a:pPr algn="ctr"/>
            <a:r>
              <a:rPr sz="3800">
                <a:solidFill>
                  <a:srgbClr val="000000"/>
                </a:solidFill>
              </a:rPr>
              <a:t>יוּלִי</a:t>
            </a:r>
            <a:r>
              <a:rPr sz="2200">
                <a:solidFill>
                  <a:srgbClr val="000000"/>
                </a:solidFill>
              </a:rPr>
              <a:t>  (yuli)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AB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Août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August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אוֹגוּסְט</a:t>
            </a:r>
            <a:r>
              <a:rPr sz="2200">
                <a:solidFill>
                  <a:srgbClr val="FFFFFF"/>
                </a:solidFill>
              </a:rPr>
              <a:t>  (ogust)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Septembre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September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סֶפְּטֶמְבֶּר</a:t>
            </a:r>
            <a:r>
              <a:rPr sz="2200">
                <a:solidFill>
                  <a:srgbClr val="FFFFFF"/>
                </a:solidFill>
              </a:rPr>
              <a:t>  (september)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9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Octobre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October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אוֹקְטוֹבֶּר</a:t>
            </a:r>
            <a:r>
              <a:rPr sz="2200">
                <a:solidFill>
                  <a:srgbClr val="FFFFFF"/>
                </a:solidFill>
              </a:rPr>
              <a:t>  (oktober)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5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Novembre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November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נוֹבֶמְבֶּר</a:t>
            </a:r>
            <a:r>
              <a:rPr sz="2200">
                <a:solidFill>
                  <a:srgbClr val="FFFFFF"/>
                </a:solidFill>
              </a:rPr>
              <a:t>  (november)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9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MOIS DE L'ANNÉE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Décembre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December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דֵּצֶמְבֶּר</a:t>
            </a:r>
            <a:r>
              <a:rPr sz="2200">
                <a:solidFill>
                  <a:srgbClr val="FFFFFF"/>
                </a:solidFill>
              </a:rPr>
              <a:t>  (detsember)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C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LES SAISONS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Printemps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spring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אָבִיב</a:t>
            </a:r>
            <a:r>
              <a:rPr sz="2200">
                <a:solidFill>
                  <a:srgbClr val="FFFFFF"/>
                </a:solidFill>
              </a:rPr>
              <a:t>  (aviv)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6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LES SAISONS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</a:rPr>
              <a:t>Été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summer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קַיִץ</a:t>
            </a:r>
            <a:r>
              <a:rPr sz="2200">
                <a:solidFill>
                  <a:srgbClr val="FFFFFF"/>
                </a:solidFill>
              </a:rPr>
              <a:t>  (kayitz)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53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LES SAISONS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Automne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autumn, fall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סְתָיו</a:t>
            </a:r>
            <a:r>
              <a:rPr sz="2200">
                <a:solidFill>
                  <a:srgbClr val="FFFFFF"/>
                </a:solidFill>
              </a:rPr>
              <a:t>  (stav)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LES SAISONS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Hiver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winter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חוֹרֶף</a:t>
            </a:r>
            <a:r>
              <a:rPr sz="2200">
                <a:solidFill>
                  <a:srgbClr val="FFFFFF"/>
                </a:solidFill>
              </a:rPr>
              <a:t>  (choref)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Aujourd'hui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today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הַיּוֹם</a:t>
            </a:r>
            <a:r>
              <a:rPr sz="2200">
                <a:solidFill>
                  <a:srgbClr val="FFFFFF"/>
                </a:solidFill>
              </a:rPr>
              <a:t>  (hayom)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yesterday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אֶתְמוֹל</a:t>
            </a:r>
            <a:r>
              <a:rPr sz="2200">
                <a:solidFill>
                  <a:srgbClr val="FFFFFF"/>
                </a:solidFill>
              </a:rPr>
              <a:t>  (etmol)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Demain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tomorrow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מָחָר</a:t>
            </a:r>
            <a:r>
              <a:rPr sz="2200">
                <a:solidFill>
                  <a:srgbClr val="FFFFFF"/>
                </a:solidFill>
              </a:rPr>
              <a:t>  (machar)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Avant-hier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day before yesterday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שִׁלְשׁוֹם</a:t>
            </a:r>
            <a:r>
              <a:rPr sz="2200">
                <a:solidFill>
                  <a:srgbClr val="FFFFFF"/>
                </a:solidFill>
              </a:rPr>
              <a:t>  (shilshom)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Après-demain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the day after tomorrow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מָחֳרָתַיִם</a:t>
            </a:r>
            <a:r>
              <a:rPr sz="2200">
                <a:solidFill>
                  <a:srgbClr val="FFFFFF"/>
                </a:solidFill>
              </a:rPr>
              <a:t>  (mochrotayim)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Maintenant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now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עַכְשָׁיו</a:t>
            </a:r>
            <a:r>
              <a:rPr sz="2200">
                <a:solidFill>
                  <a:srgbClr val="FFFFFF"/>
                </a:solidFill>
              </a:rPr>
              <a:t>  (akhshav)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F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Bientôt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soon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בְּקָרוֹב</a:t>
            </a:r>
            <a:r>
              <a:rPr sz="2200">
                <a:solidFill>
                  <a:srgbClr val="FFFFFF"/>
                </a:solidFill>
              </a:rPr>
              <a:t>  (bekarov)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>
                <a:solidFill>
                  <a:srgbClr val="FFFFFF"/>
                </a:solidFill>
              </a:rPr>
              <a:t>Tôt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early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מֻקְדָּם</a:t>
            </a:r>
            <a:r>
              <a:rPr sz="2200">
                <a:solidFill>
                  <a:srgbClr val="FFFFFF"/>
                </a:solidFill>
              </a:rPr>
              <a:t>  (mukdam)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4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</a:rPr>
              <a:t>Tard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late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מְאֻחָר</a:t>
            </a:r>
            <a:r>
              <a:rPr sz="2200">
                <a:solidFill>
                  <a:srgbClr val="FFFFFF"/>
                </a:solidFill>
              </a:rPr>
              <a:t>  (me'uchar)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Souvent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often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לְעִתִּים קְרוֹבוֹת</a:t>
            </a:r>
            <a:r>
              <a:rPr sz="2200">
                <a:solidFill>
                  <a:srgbClr val="FFFFFF"/>
                </a:solidFill>
              </a:rPr>
              <a:t>  (le'itim krovot)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Toujours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always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תָּמִיד</a:t>
            </a:r>
            <a:r>
              <a:rPr sz="2200">
                <a:solidFill>
                  <a:srgbClr val="FFFFFF"/>
                </a:solidFill>
              </a:rPr>
              <a:t>  (tamid)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Jamais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never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אַף פַּעַם</a:t>
            </a:r>
            <a:r>
              <a:rPr sz="2200">
                <a:solidFill>
                  <a:srgbClr val="FFFFFF"/>
                </a:solidFill>
              </a:rPr>
              <a:t>  (af pa'am)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La semaine dernière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last week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הַשָּׁבוּעַ שֶׁעָבַר</a:t>
            </a:r>
            <a:r>
              <a:rPr sz="2200">
                <a:solidFill>
                  <a:srgbClr val="FFFFFF"/>
                </a:solidFill>
              </a:rPr>
              <a:t>  (hashavua she'avar)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La semaine prochaine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next week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הַשָּׁבוּעַ הַבָּא</a:t>
            </a:r>
            <a:r>
              <a:rPr sz="2200">
                <a:solidFill>
                  <a:srgbClr val="FFFFFF"/>
                </a:solidFill>
              </a:rPr>
              <a:t>  (hashavua haba)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Le mois dernier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last month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הַחוֹדֶשׁ שֶׁעָבַר</a:t>
            </a:r>
            <a:r>
              <a:rPr sz="2200">
                <a:solidFill>
                  <a:srgbClr val="FFFFFF"/>
                </a:solidFill>
              </a:rPr>
              <a:t>  (hachodesh she'avar)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 mois prochain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next month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הַחוֹדֶשׁ הַבָּא</a:t>
            </a:r>
            <a:r>
              <a:rPr sz="2200">
                <a:solidFill>
                  <a:srgbClr val="FFFFFF"/>
                </a:solidFill>
              </a:rPr>
              <a:t>  (hachodesh haba)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L'année dernière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last year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הַשָּׁנָה שֶׁעָבְרָה</a:t>
            </a:r>
            <a:r>
              <a:rPr sz="2200">
                <a:solidFill>
                  <a:srgbClr val="FFFFFF"/>
                </a:solidFill>
              </a:rPr>
              <a:t>  (hashana she'avra)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L'année prochaine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next year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הַשָּׁנָה הַבָּאָה</a:t>
            </a:r>
            <a:r>
              <a:rPr sz="2200">
                <a:solidFill>
                  <a:srgbClr val="FFFFFF"/>
                </a:solidFill>
              </a:rPr>
              <a:t>  (hashana haba'a)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92608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Mardi en huit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a week on Tuesday</a:t>
            </a:r>
          </a:p>
          <a:p>
            <a:pPr algn="ctr"/>
            <a:r>
              <a:rPr sz="3800">
                <a:solidFill>
                  <a:srgbClr val="FFFFFF"/>
                </a:solidFill>
              </a:rPr>
              <a:t>יוֹם שְׁלִישִׁי בְּעוֹד שָׁבוּעַ</a:t>
            </a:r>
            <a:r>
              <a:rPr sz="2200">
                <a:solidFill>
                  <a:srgbClr val="FFFFFF"/>
                </a:solidFill>
              </a:rPr>
              <a:t>  (yom shlishi be'od shavua)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91919"/>
                </a:solidFill>
              </a:rPr>
              <a:t>Les mois du calendrier hébraïque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Hébreu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Translittération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Période (≈ grégorien)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תִּשְׁרֵי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Tishrei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sept – oct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חֶשְׁוָן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Cheshvan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oct – nov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כִּסְלֵו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Kislev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nov – déc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טֵבֵת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Tevet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déc – janv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שְׁבָט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Shvat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janv – févr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אֲדָר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févr – mars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נִיסָן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Nisan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mars – avr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אִיָּיר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Iyar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avr – mai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סִיוָן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mai – juin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תַּמּוּז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Tammuz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juin – juil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אָב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juil – août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אֱלוּל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Elul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août – sept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5A5A"/>
                </a:solidFill>
              </a:rPr>
              <a:t>Année bissextile : un 13ᵉ mois, Adar I (אֲדָר א׳), est ajouté avant Adar.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56032"/>
            <a:ext cx="8412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91919"/>
                </a:solidFill>
              </a:rPr>
              <a:t>Correspondance des deux calendriers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43000"/>
          <a:ext cx="7863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Grégorien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Hébraïque (≈)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Janvier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Tevet – Shvat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Février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Shvat – Adar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Adar – Nisan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Nisan – Iyar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Iyar – Sivan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Sivan – Tammuz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Juillet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Tammuz – 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Av – Elul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Septembre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Elul – Tishrei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Octobre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Tishrei – Cheshvan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Novembre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Cheshvan – Kislev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Décembre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Kislev – Tevet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5A5A5A"/>
                </a:solidFill>
              </a:rPr>
              <a:t>Le calendrier hébraïque est lunaire : les correspondances se décalent chaque année.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816</Words>
  <Application>Microsoft Macintosh PowerPoint</Application>
  <PresentationFormat>Affichage à l'écran (4:3)</PresentationFormat>
  <Paragraphs>332</Paragraphs>
  <Slides>65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69" baseType="lpstr">
      <vt:lpstr>Aptos Display</vt:lpstr>
      <vt:lpstr>Arial</vt:lpstr>
      <vt:lpstr>Calibri</vt:lpstr>
      <vt:lpstr>Office Theme</vt:lpstr>
      <vt:lpstr>Le Temps Jours · Mois · Dates · Quand ?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2026-06-17T23:58:59Z</dcterms:modified>
  <cp:category/>
</cp:coreProperties>
</file>