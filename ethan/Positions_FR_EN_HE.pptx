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E72"/>
    <a:srgbClr val="42A764"/>
    <a:srgbClr val="0A0C3A"/>
    <a:srgbClr val="0A0B35"/>
    <a:srgbClr val="14155E"/>
    <a:srgbClr val="BD9D34"/>
    <a:srgbClr val="949B82"/>
    <a:srgbClr val="979B74"/>
    <a:srgbClr val="9D8F76"/>
    <a:srgbClr val="F89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726"/>
  </p:normalViewPr>
  <p:slideViewPr>
    <p:cSldViewPr snapToGrid="0" snapToObjects="1">
      <p:cViewPr varScale="1">
        <p:scale>
          <a:sx n="116" d="100"/>
          <a:sy n="116" d="100"/>
        </p:scale>
        <p:origin x="1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A1E23-E3D2-0858-5FFB-DB6E5B8BD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699022"/>
            <a:ext cx="8595360" cy="2587228"/>
          </a:xfrm>
        </p:spPr>
        <p:txBody>
          <a:bodyPr>
            <a:normAutofit/>
          </a:bodyPr>
          <a:lstStyle/>
          <a:p>
            <a:r>
              <a:rPr sz="6000" b="1">
                <a:solidFill>
                  <a:srgbClr val="BE602C"/>
                </a:solidFill>
                <a:latin typeface="Aptos Display"/>
              </a:rPr>
              <a:t>L</a:t>
            </a:r>
            <a:r>
              <a:rPr sz="6000" b="1">
                <a:solidFill>
                  <a:srgbClr val="BE5B2C"/>
                </a:solidFill>
                <a:latin typeface="Aptos Display"/>
              </a:rPr>
              <a:t>e</a:t>
            </a:r>
            <a:r>
              <a:rPr sz="6000" b="1">
                <a:solidFill>
                  <a:srgbClr val="BE562C"/>
                </a:solidFill>
                <a:latin typeface="Aptos Display"/>
              </a:rPr>
              <a:t>s</a:t>
            </a:r>
            <a:r>
              <a:rPr sz="6000" b="1">
                <a:solidFill>
                  <a:srgbClr val="BE502C"/>
                </a:solidFill>
                <a:latin typeface="Aptos Display"/>
              </a:rPr>
              <a:t> </a:t>
            </a:r>
            <a:r>
              <a:rPr sz="6000" b="1">
                <a:solidFill>
                  <a:srgbClr val="BE4B2C"/>
                </a:solidFill>
                <a:latin typeface="Aptos Display"/>
              </a:rPr>
              <a:t>P</a:t>
            </a:r>
            <a:r>
              <a:rPr sz="6000" b="1">
                <a:solidFill>
                  <a:srgbClr val="BE452C"/>
                </a:solidFill>
                <a:latin typeface="Aptos Display"/>
              </a:rPr>
              <a:t>o</a:t>
            </a:r>
            <a:r>
              <a:rPr sz="6000" b="1">
                <a:solidFill>
                  <a:srgbClr val="BE402C"/>
                </a:solidFill>
                <a:latin typeface="Aptos Display"/>
              </a:rPr>
              <a:t>s</a:t>
            </a:r>
            <a:r>
              <a:rPr sz="6000" b="1">
                <a:solidFill>
                  <a:srgbClr val="BE3A2C"/>
                </a:solidFill>
                <a:latin typeface="Aptos Display"/>
              </a:rPr>
              <a:t>i</a:t>
            </a:r>
            <a:r>
              <a:rPr sz="6000" b="1">
                <a:solidFill>
                  <a:srgbClr val="BE352C"/>
                </a:solidFill>
                <a:latin typeface="Aptos Display"/>
              </a:rPr>
              <a:t>t</a:t>
            </a:r>
            <a:r>
              <a:rPr sz="6000" b="1">
                <a:solidFill>
                  <a:srgbClr val="BE2F2C"/>
                </a:solidFill>
                <a:latin typeface="Aptos Display"/>
              </a:rPr>
              <a:t>i</a:t>
            </a:r>
            <a:r>
              <a:rPr sz="6000" b="1">
                <a:solidFill>
                  <a:srgbClr val="BE2C2E"/>
                </a:solidFill>
                <a:latin typeface="Aptos Display"/>
              </a:rPr>
              <a:t>o</a:t>
            </a:r>
            <a:r>
              <a:rPr sz="6000" b="1">
                <a:solidFill>
                  <a:srgbClr val="BE2C34"/>
                </a:solidFill>
                <a:latin typeface="Aptos Display"/>
              </a:rPr>
              <a:t>n</a:t>
            </a:r>
            <a:r>
              <a:rPr sz="6000" b="1">
                <a:solidFill>
                  <a:srgbClr val="BE2C39"/>
                </a:solidFill>
                <a:latin typeface="Aptos Display"/>
              </a:rPr>
              <a:t>s</a:t>
            </a:r>
            <a:endParaRPr lang="en-US" sz="12000" b="1" dirty="0">
              <a:solidFill>
                <a:srgbClr val="F3F211"/>
              </a:solidFill>
            </a:endParaRPr>
          </a:p>
          <a:p>
            <a:pPr algn="ctr"/>
            <a:r>
              <a:rPr sz="2200" i="1">
                <a:solidFill>
                  <a:srgbClr val="783232"/>
                </a:solidFill>
              </a:rPr>
              <a:t>sur · sous · devant · derrière · nord · sud · bâbord · tribord…</a:t>
            </a:r>
          </a:p>
        </p:txBody>
      </p:sp>
    </p:spTree>
    <p:extLst>
      <p:ext uri="{BB962C8B-B14F-4D97-AF65-F5344CB8AC3E}">
        <p14:creationId xmlns:p14="http://schemas.microsoft.com/office/powerpoint/2010/main" val="143794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Au-dessus de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on  ·  above  ·  on top of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עַל  ·  מֵעַל</a:t>
            </a:r>
            <a:r>
              <a:rPr sz="1600" b="0" i="0">
                <a:solidFill>
                  <a:srgbClr val="0F0F0F"/>
                </a:solidFill>
              </a:rPr>
              <a:t>   (al · me'al)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 livre est sur la table.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book is on the table.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הַסֵּפֶר עַל הַשֻּׁלְחָן.</a:t>
            </a:r>
            <a:r>
              <a:rPr sz="1400" b="0" i="0">
                <a:solidFill>
                  <a:srgbClr val="0F0F0F"/>
                </a:solidFill>
              </a:rPr>
              <a:t>  (hasefer al hashulchan.)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Sous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En dessous de, Dessous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under  ·  below  ·  beneath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מִתַּחַת  ·  תַּחַת</a:t>
            </a:r>
            <a:r>
              <a:rPr sz="1600" b="0" i="0">
                <a:solidFill>
                  <a:srgbClr val="0F0F0F"/>
                </a:solidFill>
              </a:rPr>
              <a:t>   (mitachat · tachat)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 chat est sous la chaise.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cat is under the chair.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הֶחָתוּל מִתַּחַת לַכִּסֵּא.</a:t>
            </a:r>
            <a:r>
              <a:rPr sz="1400" b="0" i="0">
                <a:solidFill>
                  <a:srgbClr val="0F0F0F"/>
                </a:solidFill>
              </a:rPr>
              <a:t>  (hechatul mitachat lakise.)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Devant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in front of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לִפְנֵי</a:t>
            </a:r>
            <a:r>
              <a:rPr sz="1600" b="0" i="0">
                <a:solidFill>
                  <a:srgbClr val="0F0F0F"/>
                </a:solidFill>
              </a:rPr>
              <a:t>   (lifnei)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Je suis devant la porte.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I am in front of the door.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אֲנִי לִפְנֵי הַדֶּלֶת.</a:t>
            </a:r>
            <a:r>
              <a:rPr sz="1400" b="0" i="0">
                <a:solidFill>
                  <a:srgbClr val="0F0F0F"/>
                </a:solidFill>
              </a:rPr>
              <a:t>  (ani lifnei hadelet.)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2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Derrière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behind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מֵאֲחוֹרֵי  ·  אַחֲרֵי</a:t>
            </a:r>
            <a:r>
              <a:rPr sz="1600" b="0" i="0">
                <a:solidFill>
                  <a:srgbClr val="FFFFFF"/>
                </a:solidFill>
              </a:rPr>
              <a:t>   (me'achorei · acharei)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Le jardin est derrière la maison.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garden is behind the house.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הַגַּן מֵאֲחוֹרֵי הַבַּיִת.</a:t>
            </a:r>
            <a:r>
              <a:rPr sz="1400" b="0" i="0">
                <a:solidFill>
                  <a:srgbClr val="FFFFFF"/>
                </a:solidFill>
              </a:rPr>
              <a:t>  (hagan me'achorei habayit.)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Dans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À l'intérieur de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in  ·  inside  ·  within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בְּ  ·  בְּתוֹךְ</a:t>
            </a:r>
            <a:r>
              <a:rPr sz="1600" b="0" i="0">
                <a:solidFill>
                  <a:srgbClr val="0F0F0F"/>
                </a:solidFill>
              </a:rPr>
              <a:t>   (be · betoch)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Les jouets sont dans la boîte.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toys are in the box.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הַצַּעֲצוּעִים בְּתוֹךְ הַקֻּפְסָה.</a:t>
            </a:r>
            <a:r>
              <a:rPr sz="1400" b="0" i="0">
                <a:solidFill>
                  <a:srgbClr val="0F0F0F"/>
                </a:solidFill>
              </a:rPr>
              <a:t>  (hatsa'atzu'im betoch hakufsa.)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À côté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Près de, Auprès de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next to  ·  beside  ·  near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לְיַד  ·  עַל-יַד  ·  קָרוֹב לְ</a:t>
            </a:r>
            <a:r>
              <a:rPr sz="1600" b="0" i="0">
                <a:solidFill>
                  <a:srgbClr val="0F0F0F"/>
                </a:solidFill>
              </a:rPr>
              <a:t>   (leyad · al-yad · karov le)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La chaise est à côté du lit.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chair is next to the bed.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הַכִּסֵּא לְיַד הַמִּטָּה.</a:t>
            </a:r>
            <a:r>
              <a:rPr sz="1400" b="0" i="0">
                <a:solidFill>
                  <a:srgbClr val="0F0F0F"/>
                </a:solidFill>
              </a:rPr>
              <a:t>  (hakise leyad hamita.)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En face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Face à, Vis-à-vis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opposite  ·  facing  ·  across from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מוּל  ·  נֹכַח</a:t>
            </a:r>
            <a:r>
              <a:rPr sz="1600" b="0" i="0">
                <a:solidFill>
                  <a:srgbClr val="0F0F0F"/>
                </a:solidFill>
              </a:rPr>
              <a:t>   (mul · nochach)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L'école est en face du parc.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school is opposite the park.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בֵּית הַסֵּפֶר מוּל הַפַּארְק.</a:t>
            </a:r>
            <a:r>
              <a:rPr sz="1400" b="0" i="0">
                <a:solidFill>
                  <a:srgbClr val="0F0F0F"/>
                </a:solidFill>
              </a:rPr>
              <a:t>  (beit hasefer mul hapark.)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between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בֵּין</a:t>
            </a:r>
            <a:r>
              <a:rPr sz="1600" b="0" i="0">
                <a:solidFill>
                  <a:srgbClr val="FFFFFF"/>
                </a:solidFill>
              </a:rPr>
              <a:t>   (bein)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Le chat est entre les deux boîtes.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cat is between the two boxes.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הֶחָתוּל בֵּין שְׁתֵּי הַקֻּפְסָאוֹת.</a:t>
            </a:r>
            <a:r>
              <a:rPr sz="1400" b="0" i="0">
                <a:solidFill>
                  <a:srgbClr val="FFFFFF"/>
                </a:solidFill>
              </a:rPr>
              <a:t>  (hechatul bein shtei hakufsaot.)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Parmi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Au milieu de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among  ·  amid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בֵּין  ·  בְּקֶרֶב</a:t>
            </a:r>
            <a:r>
              <a:rPr sz="1600" b="0" i="0">
                <a:solidFill>
                  <a:srgbClr val="0F0F0F"/>
                </a:solidFill>
              </a:rPr>
              <a:t>   (bein · bekerev)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Il est parmi ses amis.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He is among his friends.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הוּא בֵּין חֲבֵרָיו.</a:t>
            </a:r>
            <a:r>
              <a:rPr sz="1400" b="0" i="0">
                <a:solidFill>
                  <a:srgbClr val="0F0F0F"/>
                </a:solidFill>
              </a:rPr>
              <a:t>  (hu bein chaverav.)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F0F0F"/>
                </a:solidFill>
              </a:rPr>
              <a:t>Au milieu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Au centre de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in the middle of  ·  in the center of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בְּאֶמְצַע  ·  בַּמֶּרְכָּז</a:t>
            </a:r>
            <a:r>
              <a:rPr sz="1600" b="0" i="0">
                <a:solidFill>
                  <a:srgbClr val="0F0F0F"/>
                </a:solidFill>
              </a:rPr>
              <a:t>   (be'emtsa · bamerkaz)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La table est au milieu de la pièce.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table is in the middle of the room.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הַשֻּׁלְחָן בְּאֶמְצַע הַחֶדֶר.</a:t>
            </a:r>
            <a:r>
              <a:rPr sz="1400" b="0" i="0">
                <a:solidFill>
                  <a:srgbClr val="0F0F0F"/>
                </a:solidFill>
              </a:rPr>
              <a:t>  (hashulchan be'emtsa hacheder.)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Autour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around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מִסָּבִיב לְ  ·  סְבִיב</a:t>
            </a:r>
            <a:r>
              <a:rPr sz="1600" b="0" i="0">
                <a:solidFill>
                  <a:srgbClr val="0F0F0F"/>
                </a:solidFill>
              </a:rPr>
              <a:t>   (misaviv le · sviv)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Les enfants sont autour de la table.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children are around the table.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הַיְלָדִים מִסָּבִיב לַשֻּׁלְחָן.</a:t>
            </a:r>
            <a:r>
              <a:rPr sz="1400" b="0" i="0">
                <a:solidFill>
                  <a:srgbClr val="0F0F0F"/>
                </a:solidFill>
              </a:rPr>
              <a:t>  (hayeladim misaviv lashulchan.)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2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Le long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along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לְאֹרֶךְ</a:t>
            </a:r>
            <a:r>
              <a:rPr sz="1600" b="0" i="0">
                <a:solidFill>
                  <a:srgbClr val="FFFFFF"/>
                </a:solidFill>
              </a:rPr>
              <a:t>   (le'orech)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Nous marchons le long de la rivière.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We walk along the river.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אֲנַחְנוּ הוֹלְכִים לְאֹרֶךְ הַנָּהָר.</a:t>
            </a:r>
            <a:r>
              <a:rPr sz="1400" b="0" i="0">
                <a:solidFill>
                  <a:srgbClr val="FFFFFF"/>
                </a:solidFill>
              </a:rPr>
              <a:t>  (anachnu holchim le'orech hanahar.)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À travers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Au travers de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through  ·  across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דֶּרֶךְ  ·  מִבַּעַד לְ</a:t>
            </a:r>
            <a:r>
              <a:rPr sz="1600" b="0" i="0">
                <a:solidFill>
                  <a:srgbClr val="0F0F0F"/>
                </a:solidFill>
              </a:rPr>
              <a:t>   (derech · miba'ad le)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Il regarde à travers la fenêtre.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He looks through the window.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הוּא מַבִּיט דֶּרֶךְ הַחַלּוֹן.</a:t>
            </a:r>
            <a:r>
              <a:rPr sz="1400" b="0" i="0">
                <a:solidFill>
                  <a:srgbClr val="0F0F0F"/>
                </a:solidFill>
              </a:rPr>
              <a:t>  (hu mabit derech hachalon.)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toward  ·  towards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אֶל  ·  לְעֵבֶר</a:t>
            </a:r>
            <a:r>
              <a:rPr sz="1600" b="0" i="0">
                <a:solidFill>
                  <a:srgbClr val="0F0F0F"/>
                </a:solidFill>
              </a:rPr>
              <a:t>   (el · le'ever)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Il court vers la maison.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He runs toward the house.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הוּא רָץ אֶל הַבַּיִת.</a:t>
            </a:r>
            <a:r>
              <a:rPr sz="1400" b="0" i="0">
                <a:solidFill>
                  <a:srgbClr val="0F0F0F"/>
                </a:solidFill>
              </a:rPr>
              <a:t>  (hu ratz el habayit.)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Loin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far from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רָחוֹק מִ</a:t>
            </a:r>
            <a:r>
              <a:rPr sz="1600" b="0" i="0">
                <a:solidFill>
                  <a:srgbClr val="0F0F0F"/>
                </a:solidFill>
              </a:rPr>
              <a:t>   (rachok mi)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L'école est loin de la maison.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school is far from home.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בֵּית הַסֵּפֶר רָחוֹק מֵהַבַּיִת.</a:t>
            </a:r>
            <a:r>
              <a:rPr sz="1400" b="0" i="0">
                <a:solidFill>
                  <a:srgbClr val="0F0F0F"/>
                </a:solidFill>
              </a:rPr>
              <a:t>  (beit hasefer rachok mehabayit.)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Contre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against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צָמוּד לְ  ·  נֶגֶד</a:t>
            </a:r>
            <a:r>
              <a:rPr sz="1600" b="0" i="0">
                <a:solidFill>
                  <a:srgbClr val="FFFFFF"/>
                </a:solidFill>
              </a:rPr>
              <a:t>   (tsamud le · neged)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L'échelle est contre le mur.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ladder is against the wall.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הַסֻּלָּם צָמוּד לַקִּיר.</a:t>
            </a:r>
            <a:r>
              <a:rPr sz="1400" b="0" i="0">
                <a:solidFill>
                  <a:srgbClr val="FFFFFF"/>
                </a:solidFill>
              </a:rPr>
              <a:t>  (hasulam tsamud lakir.)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at (someone's)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אֵצֶל</a:t>
            </a:r>
            <a:r>
              <a:rPr sz="1600" b="0" i="0">
                <a:solidFill>
                  <a:srgbClr val="0F0F0F"/>
                </a:solidFill>
              </a:rPr>
              <a:t>   (etzel)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Je suis chez ma grand-mère.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I am at my grandmother's.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אֲנִי אֵצֶל סָבְתָא.</a:t>
            </a:r>
            <a:r>
              <a:rPr sz="1400" b="0" i="0">
                <a:solidFill>
                  <a:srgbClr val="0F0F0F"/>
                </a:solidFill>
              </a:rPr>
              <a:t>  (ani etzel savta.)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PRÉPOSITION DE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Hors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En dehors de, Dehors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outside  ·  out of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מִחוּץ לְ  ·  בַּחוּץ</a:t>
            </a:r>
            <a:r>
              <a:rPr sz="1600" b="0" i="0">
                <a:solidFill>
                  <a:srgbClr val="0F0F0F"/>
                </a:solidFill>
              </a:rPr>
              <a:t>   (michutz le · bachutz)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 chien est dehors.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dog is outside.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הַכֶּלֶב בַּחוּץ.</a:t>
            </a:r>
            <a:r>
              <a:rPr sz="1400" b="0" i="0">
                <a:solidFill>
                  <a:srgbClr val="0F0F0F"/>
                </a:solidFill>
              </a:rPr>
              <a:t>  (hakelev bachutz.)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HAUT · BAS · CÔTÉS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Le haut, Au-dessus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up  ·  top  ·  above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לְמַעְלָה</a:t>
            </a:r>
            <a:r>
              <a:rPr sz="1600" b="0" i="0">
                <a:solidFill>
                  <a:srgbClr val="0F0F0F"/>
                </a:solidFill>
              </a:rPr>
              <a:t>   (lema'la)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L'oiseau vole en haut.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bird flies up high.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הַצִּפּוֹר עָפָה לְמַעְלָה.</a:t>
            </a:r>
            <a:r>
              <a:rPr sz="1400" b="0" i="0">
                <a:solidFill>
                  <a:srgbClr val="0F0F0F"/>
                </a:solidFill>
              </a:rPr>
              <a:t>  (hatsipor afa lema'la.)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2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HAUT · BAS · CÔTÉS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En 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aussi : Le bas, Au-dessous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down  ·  bottom  ·  below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לְמַטָּה</a:t>
            </a:r>
            <a:r>
              <a:rPr sz="1600" b="0" i="0">
                <a:solidFill>
                  <a:srgbClr val="FFFFFF"/>
                </a:solidFill>
              </a:rPr>
              <a:t>   (lemata)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La balle roule en bas.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ball rolls down.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הַכַּדּוּר מִתְגַּלְגֵּל לְמַטָּה.</a:t>
            </a:r>
            <a:r>
              <a:rPr sz="1400" b="0" i="0">
                <a:solidFill>
                  <a:srgbClr val="FFFFFF"/>
                </a:solidFill>
              </a:rPr>
              <a:t>  (hakadur mitgalgel lemata.)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HAUT · BAS · CÔTÉS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À gauche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La gauche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left  ·  on the left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שְׂמֹאל  ·  מִשְּׂמֹאל</a:t>
            </a:r>
            <a:r>
              <a:rPr sz="1600" b="0" i="0">
                <a:solidFill>
                  <a:srgbClr val="0F0F0F"/>
                </a:solidFill>
              </a:rPr>
              <a:t>   (smol · mismol)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Tourne à gauche.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Turn left.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פְּנֵה שְׂמֹאלָה.</a:t>
            </a:r>
            <a:r>
              <a:rPr sz="1400" b="0" i="0">
                <a:solidFill>
                  <a:srgbClr val="0F0F0F"/>
                </a:solidFill>
              </a:rPr>
              <a:t>  (pneh smola.)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HAUT · BAS · CÔTÉS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À droite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La droite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right  ·  on the right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יָמִין  ·  מִיָּמִין</a:t>
            </a:r>
            <a:r>
              <a:rPr sz="1600" b="0" i="0">
                <a:solidFill>
                  <a:srgbClr val="0F0F0F"/>
                </a:solidFill>
              </a:rPr>
              <a:t>   (yamin · miyamin)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Tourne à droite.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Turn right.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פְּנֵה יָמִינָה.</a:t>
            </a:r>
            <a:r>
              <a:rPr sz="1400" b="0" i="0">
                <a:solidFill>
                  <a:srgbClr val="0F0F0F"/>
                </a:solidFill>
              </a:rPr>
              <a:t>  (pneh yamina.)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HAUT · BAS · CÔTÉS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F0F0F"/>
                </a:solidFill>
              </a:rPr>
              <a:t>À l'intérieur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Dedans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inside  ·  indoors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בִּפְנִים  ·  בְּתוֹךְ</a:t>
            </a:r>
            <a:r>
              <a:rPr sz="1600" b="0" i="0">
                <a:solidFill>
                  <a:srgbClr val="0F0F0F"/>
                </a:solidFill>
              </a:rPr>
              <a:t>   (bifnim · betoch)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Reste à l'intérieur.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Stay inside.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הִשָּׁאֵר בִּפְנִים.</a:t>
            </a:r>
            <a:r>
              <a:rPr sz="1400" b="0" i="0">
                <a:solidFill>
                  <a:srgbClr val="0F0F0F"/>
                </a:solidFill>
              </a:rPr>
              <a:t>  (hisha'er bifnim.)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HAUT · BAS · CÔTÉS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À l'extérieur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aussi : Dehors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outside  ·  outdoors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בַּחוּץ</a:t>
            </a:r>
            <a:r>
              <a:rPr sz="1600" b="0" i="0">
                <a:solidFill>
                  <a:srgbClr val="FFFFFF"/>
                </a:solidFill>
              </a:rPr>
              <a:t>   (bachutz)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On joue à l'extérieur.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We play outside.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מְשַׂחֲקִים בַּחוּץ.</a:t>
            </a:r>
            <a:r>
              <a:rPr sz="1400" b="0" i="0">
                <a:solidFill>
                  <a:srgbClr val="FFFFFF"/>
                </a:solidFill>
              </a:rPr>
              <a:t>  (mesachakim bachutz.)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Le nord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(the) north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צָפוֹן</a:t>
            </a:r>
            <a:r>
              <a:rPr sz="1600" b="0" i="0">
                <a:solidFill>
                  <a:srgbClr val="0F0F0F"/>
                </a:solidFill>
              </a:rPr>
              <a:t>   (tsafon)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La boussole indique le nord.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compass points north.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הַמַּצְפֵּן מַרְאֶה צָפוֹן.</a:t>
            </a:r>
            <a:r>
              <a:rPr sz="1400" b="0" i="0">
                <a:solidFill>
                  <a:srgbClr val="0F0F0F"/>
                </a:solidFill>
              </a:rPr>
              <a:t>  (hamatzpen mar'eh tsafon.)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Le sud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south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דָּרוֹם</a:t>
            </a:r>
            <a:r>
              <a:rPr sz="1600" b="0" i="0">
                <a:solidFill>
                  <a:srgbClr val="0F0F0F"/>
                </a:solidFill>
              </a:rPr>
              <a:t>   (darom)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Les oiseaux volent vers le sud.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Birds fly south.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הַצִּפּוֹרִים עָפוֹת דָּרוֹמָה.</a:t>
            </a:r>
            <a:r>
              <a:rPr sz="1400" b="0" i="0">
                <a:solidFill>
                  <a:srgbClr val="0F0F0F"/>
                </a:solidFill>
              </a:rPr>
              <a:t>  (hatsiporim afot daroma.)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L'est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east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מִזְרָח</a:t>
            </a:r>
            <a:r>
              <a:rPr sz="1600" b="0" i="0">
                <a:solidFill>
                  <a:srgbClr val="0F0F0F"/>
                </a:solidFill>
              </a:rPr>
              <a:t>   (mizrach)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 soleil se lève à l'est.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sun rises in the east.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הַשֶּׁמֶשׁ זוֹרַחַת בַּמִּזְרָח.</a:t>
            </a:r>
            <a:r>
              <a:rPr sz="1400" b="0" i="0">
                <a:solidFill>
                  <a:srgbClr val="0F0F0F"/>
                </a:solidFill>
              </a:rPr>
              <a:t>  (hashemesh zorachat bamizrach.)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2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L'ouest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west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מַעֲרָב</a:t>
            </a:r>
            <a:r>
              <a:rPr sz="1600" b="0" i="0">
                <a:solidFill>
                  <a:srgbClr val="FFFFFF"/>
                </a:solidFill>
              </a:rPr>
              <a:t>   (ma'arav)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Le soleil se couche à l'ouest.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sun sets in the west.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הַשֶּׁמֶשׁ שׁוֹקַעַת בַּמַּעֲרָב.</a:t>
            </a:r>
            <a:r>
              <a:rPr sz="1400" b="0" i="0">
                <a:solidFill>
                  <a:srgbClr val="FFFFFF"/>
                </a:solidFill>
              </a:rPr>
              <a:t>  (hashemesh shoka'at bama'arav.)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Le nord-est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northeast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צְפוֹן-מִזְרָח</a:t>
            </a:r>
            <a:r>
              <a:rPr sz="1600" b="0" i="0">
                <a:solidFill>
                  <a:srgbClr val="0F0F0F"/>
                </a:solidFill>
              </a:rPr>
              <a:t>   (tsfon-mizrach)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 vent vient du nord-est.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wind comes from the northeast.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הָרוּחַ בָּאָה מִצְּפוֹן-מִזְרָח.</a:t>
            </a:r>
            <a:r>
              <a:rPr sz="1400" b="0" i="0">
                <a:solidFill>
                  <a:srgbClr val="0F0F0F"/>
                </a:solidFill>
              </a:rPr>
              <a:t>  (haruach ba'a mitsfon-mizrach.)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F0F0F"/>
                </a:solidFill>
              </a:rPr>
              <a:t>Le nord-ouest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northwest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צְפוֹן-מַעֲרָב</a:t>
            </a:r>
            <a:r>
              <a:rPr sz="1600" b="0" i="0">
                <a:solidFill>
                  <a:srgbClr val="0F0F0F"/>
                </a:solidFill>
              </a:rPr>
              <a:t>   (tsfon-ma'arav)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Une île est au nord-ouest.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An island is to the northwest.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אִי נִמְצָא בִּצְפוֹן-מַעֲרָב.</a:t>
            </a:r>
            <a:r>
              <a:rPr sz="1400" b="0" i="0">
                <a:solidFill>
                  <a:srgbClr val="0F0F0F"/>
                </a:solidFill>
              </a:rPr>
              <a:t>  (i nimtsa bitsfon-ma'arav.)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Le sud-est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southeast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דְּרוֹם-מִזְרָח</a:t>
            </a:r>
            <a:r>
              <a:rPr sz="1600" b="0" i="0">
                <a:solidFill>
                  <a:srgbClr val="0F0F0F"/>
                </a:solidFill>
              </a:rPr>
              <a:t>   (drom-mizrach)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 port est au sud-est.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harbor is to the southeast.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הַנָּמֵל בִּדְרוֹם-מִזְרָח.</a:t>
            </a:r>
            <a:r>
              <a:rPr sz="1400" b="0" i="0">
                <a:solidFill>
                  <a:srgbClr val="0F0F0F"/>
                </a:solidFill>
              </a:rPr>
              <a:t>  (hanamel bidrom-mizrach.)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Le sud-ouest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southwest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דְּרוֹם-מַעֲרָב</a:t>
            </a:r>
            <a:r>
              <a:rPr sz="1600" b="0" i="0">
                <a:solidFill>
                  <a:srgbClr val="FFFFFF"/>
                </a:solidFill>
              </a:rPr>
              <a:t>   (drom-ma'arav)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La plage est au sud-ouest.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beach is to the southwest.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הַחוֹף בִּדְרוֹם-מַעֲרָב.</a:t>
            </a:r>
            <a:r>
              <a:rPr sz="1400" b="0" i="0">
                <a:solidFill>
                  <a:srgbClr val="FFFFFF"/>
                </a:solidFill>
              </a:rPr>
              <a:t>  (hachof bidrom-ma'arav.)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La boussole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compass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מַצְפֵּן</a:t>
            </a:r>
            <a:r>
              <a:rPr sz="1600" b="0" i="0">
                <a:solidFill>
                  <a:srgbClr val="0F0F0F"/>
                </a:solidFill>
              </a:rPr>
              <a:t>   (matzpen)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J'utilise une boussole.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I use a compass.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אֲנִי מִשְׁתַּמֵּשׁ בְּמַצְפֵּן.</a:t>
            </a:r>
            <a:r>
              <a:rPr sz="1400" b="0" i="0">
                <a:solidFill>
                  <a:srgbClr val="0F0F0F"/>
                </a:solidFill>
              </a:rPr>
              <a:t>  (ani mishtamesh bematzpen.)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POINTS CARDINAUX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0F0F"/>
                </a:solidFill>
              </a:rPr>
              <a:t>Les points cardinaux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the cardinal points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רוּחוֹת הַשָּׁמַיִם</a:t>
            </a:r>
            <a:r>
              <a:rPr sz="1600" b="0" i="0">
                <a:solidFill>
                  <a:srgbClr val="0F0F0F"/>
                </a:solidFill>
              </a:rPr>
              <a:t>   (ruchot hashamayim)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Il y a quatre points cardinaux.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There are four cardinal points.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יֵשׁ אַרְבַּע רוּחוֹת שָׁמַיִם.</a:t>
            </a:r>
            <a:r>
              <a:rPr sz="1400" b="0" i="0">
                <a:solidFill>
                  <a:srgbClr val="0F0F0F"/>
                </a:solidFill>
              </a:rPr>
              <a:t>  (yesh arba ruchot shamayim.)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MARINE · BATEAU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F0F0F"/>
                </a:solidFill>
              </a:rPr>
              <a:t>Bâbord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port (left side)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צַד שְׂמֹאל</a:t>
            </a:r>
            <a:r>
              <a:rPr sz="1600" b="0" i="0">
                <a:solidFill>
                  <a:srgbClr val="0F0F0F"/>
                </a:solidFill>
              </a:rPr>
              <a:t>   (tsad smol)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Regarde à bâbord !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Look to port!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תִּסְתַּכֵּל לְצַד שְׂמֹאל!</a:t>
            </a:r>
            <a:r>
              <a:rPr sz="1400" b="0" i="0">
                <a:solidFill>
                  <a:srgbClr val="0F0F0F"/>
                </a:solidFill>
              </a:rPr>
              <a:t>  (tistakel letsad smol!)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2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MARINE · BATEAU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Tribord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starboard (right side)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צַד יָמִין</a:t>
            </a:r>
            <a:r>
              <a:rPr sz="1600" b="0" i="0">
                <a:solidFill>
                  <a:srgbClr val="FFFFFF"/>
                </a:solidFill>
              </a:rPr>
              <a:t>   (tsad yamin)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Le phare est à tribord.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The lighthouse is to starboard.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הַמִּגְדַּלּוֹר לְצַד יָמִין.</a:t>
            </a:r>
            <a:r>
              <a:rPr sz="1400" b="0" i="0">
                <a:solidFill>
                  <a:srgbClr val="FFFFFF"/>
                </a:solidFill>
              </a:rPr>
              <a:t>  (hamigdalor letsad yamin.)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MARINE · BATEAU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La proue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L'avant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bow  ·  front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חַרְטוֹם  ·  חֲזִית</a:t>
            </a:r>
            <a:r>
              <a:rPr sz="1600" b="0" i="0">
                <a:solidFill>
                  <a:srgbClr val="0F0F0F"/>
                </a:solidFill>
              </a:rPr>
              <a:t>   (chartom · chazit)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La proue fend les vagues.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bow cuts the waves.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הַחַרְטוֹם חוֹתֵךְ אֶת הַגַּלִּים.</a:t>
            </a:r>
            <a:r>
              <a:rPr sz="1400" b="0" i="0">
                <a:solidFill>
                  <a:srgbClr val="0F0F0F"/>
                </a:solidFill>
              </a:rPr>
              <a:t>  (hachartom chotech et hagalim.)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D5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</a:rPr>
              <a:t>MARINE · BATEAU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F0F0F"/>
                </a:solidFill>
              </a:rPr>
              <a:t>La poupe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F0F0F"/>
                </a:solidFill>
              </a:rPr>
              <a:t>aussi : L'arrière</a:t>
            </a:r>
          </a:p>
          <a:p>
            <a:pPr algn="ctr"/>
            <a:r>
              <a:rPr sz="2200" b="0" i="0">
                <a:solidFill>
                  <a:srgbClr val="0F0F0F"/>
                </a:solidFill>
              </a:rPr>
              <a:t>stern  ·  back</a:t>
            </a:r>
          </a:p>
          <a:p>
            <a:pPr algn="ctr"/>
            <a:r>
              <a:rPr sz="2800" b="0" i="0">
                <a:solidFill>
                  <a:srgbClr val="0F0F0F"/>
                </a:solidFill>
              </a:rPr>
              <a:t>יַרְכְּתַיִם</a:t>
            </a:r>
            <a:r>
              <a:rPr sz="1600" b="0" i="0">
                <a:solidFill>
                  <a:srgbClr val="0F0F0F"/>
                </a:solidFill>
              </a:rPr>
              <a:t>   (yarketayim)</a:t>
            </a:r>
          </a:p>
          <a:p>
            <a:pPr algn="ctr"/>
            <a:r>
              <a:rPr sz="800" b="0" i="0">
                <a:solidFill>
                  <a:srgbClr val="0F0F0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0F0F0F"/>
                </a:solidFill>
              </a:rPr>
              <a:t>Ex :  Le drapeau est à la poupe.</a:t>
            </a:r>
          </a:p>
          <a:p>
            <a:pPr algn="ctr"/>
            <a:r>
              <a:rPr sz="1400" b="0" i="0">
                <a:solidFill>
                  <a:srgbClr val="0F0F0F"/>
                </a:solidFill>
              </a:rPr>
              <a:t>The flag is at the stern.</a:t>
            </a:r>
          </a:p>
          <a:p>
            <a:pPr algn="ctr"/>
            <a:r>
              <a:rPr sz="2000" b="0" i="0">
                <a:solidFill>
                  <a:srgbClr val="0F0F0F"/>
                </a:solidFill>
              </a:rPr>
              <a:t>הַדֶּגֶל בַּיַּרְכְּתַיִם.</a:t>
            </a:r>
            <a:r>
              <a:rPr sz="1400" b="0" i="0">
                <a:solidFill>
                  <a:srgbClr val="0F0F0F"/>
                </a:solidFill>
              </a:rPr>
              <a:t>  (hadegel bayarketayim.)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1597</Words>
  <Application>Microsoft Macintosh PowerPoint</Application>
  <PresentationFormat>Affichage à l'écran (4:3)</PresentationFormat>
  <Paragraphs>344</Paragraphs>
  <Slides>39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Aptos Display</vt:lpstr>
      <vt:lpstr>Arial</vt:lpstr>
      <vt:lpstr>Calibri</vt:lpstr>
      <vt:lpstr>Office Theme</vt:lpstr>
      <vt:lpstr>Les Positions sur · sous · devant · derrière · nord · sud · bâbord · tribord…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4</cp:revision>
  <dcterms:created xsi:type="dcterms:W3CDTF">2013-01-27T09:14:16Z</dcterms:created>
  <dcterms:modified xsi:type="dcterms:W3CDTF">2026-06-18T15:33:56Z</dcterms:modified>
  <cp:category/>
</cp:coreProperties>
</file>