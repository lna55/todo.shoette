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699022"/>
            <a:ext cx="8412480" cy="2587228"/>
          </a:xfrm>
        </p:spPr>
        <p:txBody>
          <a:bodyPr>
            <a:normAutofit/>
          </a:bodyPr>
          <a:lstStyle/>
          <a:p>
            <a:r>
              <a:rPr sz="8000" b="1">
                <a:solidFill>
                  <a:srgbClr val="DAE5F0"/>
                </a:solidFill>
                <a:latin typeface="Aptos Display"/>
              </a:rPr>
              <a:t>Q</a:t>
            </a:r>
            <a:r>
              <a:rPr sz="8000" b="1">
                <a:solidFill>
                  <a:srgbClr val="BED4E7"/>
                </a:solidFill>
                <a:latin typeface="Aptos Display"/>
              </a:rPr>
              <a:t>u</a:t>
            </a:r>
            <a:r>
              <a:rPr sz="8000" b="1">
                <a:solidFill>
                  <a:srgbClr val="A1C4DF"/>
                </a:solidFill>
                <a:latin typeface="Aptos Display"/>
              </a:rPr>
              <a:t>e</a:t>
            </a:r>
            <a:r>
              <a:rPr sz="8000" b="1">
                <a:solidFill>
                  <a:srgbClr val="83B5D8"/>
                </a:solidFill>
                <a:latin typeface="Aptos Display"/>
              </a:rPr>
              <a:t>s</a:t>
            </a:r>
            <a:r>
              <a:rPr sz="8000" b="1">
                <a:solidFill>
                  <a:srgbClr val="64A7D2"/>
                </a:solidFill>
                <a:latin typeface="Aptos Display"/>
              </a:rPr>
              <a:t>t</a:t>
            </a:r>
            <a:r>
              <a:rPr sz="8000" b="1">
                <a:solidFill>
                  <a:srgbClr val="459BCC"/>
                </a:solidFill>
                <a:latin typeface="Aptos Display"/>
              </a:rPr>
              <a:t>i</a:t>
            </a:r>
            <a:r>
              <a:rPr sz="8000" b="1">
                <a:solidFill>
                  <a:srgbClr val="2F8CBD"/>
                </a:solidFill>
                <a:latin typeface="Aptos Display"/>
              </a:rPr>
              <a:t>o</a:t>
            </a:r>
            <a:r>
              <a:rPr sz="8000" b="1">
                <a:solidFill>
                  <a:srgbClr val="257AA2"/>
                </a:solidFill>
                <a:latin typeface="Aptos Display"/>
              </a:rPr>
              <a:t>n</a:t>
            </a:r>
            <a:r>
              <a:rPr sz="8000" b="1">
                <a:solidFill>
                  <a:srgbClr val="1C6686"/>
                </a:solidFill>
                <a:latin typeface="Aptos Display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  <a:p>
            <a:pPr algn="ctr"/>
            <a:r>
              <a:rPr sz="2200" i="1">
                <a:solidFill>
                  <a:srgbClr val="465A78"/>
                </a:solidFill>
              </a:rPr>
              <a:t>qui · que · où · quand · comment · pourquoi · combien · quel</a:t>
            </a: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C1C36"/>
                </a:solidFill>
              </a:rPr>
              <a:t>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who   </a:t>
            </a:r>
            <a:r>
              <a:rPr sz="2800" b="0" i="0">
                <a:solidFill>
                  <a:srgbClr val="0C1C36"/>
                </a:solidFill>
              </a:rPr>
              <a:t>מִי</a:t>
            </a:r>
            <a:r>
              <a:rPr sz="1600" b="0" i="0">
                <a:solidFill>
                  <a:srgbClr val="0C1C36"/>
                </a:solidFill>
              </a:rPr>
              <a:t>  (mi)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מִי est invariable ; + préposition : לְמִי, עִם מִי.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Qui est là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Who is there?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מִי שָׁם?</a:t>
            </a:r>
            <a:r>
              <a:rPr sz="1400" b="0" i="0">
                <a:solidFill>
                  <a:srgbClr val="0C1C36"/>
                </a:solidFill>
              </a:rPr>
              <a:t>  (mi sham?)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C'est Maman.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It's Mom.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זֹאת אִמָּא.</a:t>
            </a:r>
            <a:r>
              <a:rPr sz="1400" b="0" i="0">
                <a:solidFill>
                  <a:srgbClr val="0C1C36"/>
                </a:solidFill>
              </a:rPr>
              <a:t>  (zot ima.)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C1C36"/>
                </a:solidFill>
              </a:rPr>
              <a:t>Que / 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what   </a:t>
            </a:r>
            <a:r>
              <a:rPr sz="2800" b="0" i="0">
                <a:solidFill>
                  <a:srgbClr val="0C1C36"/>
                </a:solidFill>
              </a:rPr>
              <a:t>מָה</a:t>
            </a:r>
            <a:r>
              <a:rPr sz="1600" b="0" i="0">
                <a:solidFill>
                  <a:srgbClr val="0C1C36"/>
                </a:solidFill>
              </a:rPr>
              <a:t>  (ma)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מָה peut s'écrire מֶה/מַה selon la lettre suivante.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Que fais-tu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What are you doing?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מָה אַתָּה עוֹשֶׂה?</a:t>
            </a:r>
            <a:r>
              <a:rPr sz="1400" b="0" i="0">
                <a:solidFill>
                  <a:srgbClr val="0C1C36"/>
                </a:solidFill>
              </a:rPr>
              <a:t>  (ma ata ose?)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Je joue.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I'm playing.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אֲנִי מְשַׂחֵק.</a:t>
            </a:r>
            <a:r>
              <a:rPr sz="1400" b="0" i="0">
                <a:solidFill>
                  <a:srgbClr val="0C1C36"/>
                </a:solidFill>
              </a:rPr>
              <a:t>  (ani mesachek.)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C1C36"/>
                </a:solidFill>
              </a:rPr>
              <a:t>Où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where   </a:t>
            </a:r>
            <a:r>
              <a:rPr sz="2800" b="0" i="0">
                <a:solidFill>
                  <a:srgbClr val="0C1C36"/>
                </a:solidFill>
              </a:rPr>
              <a:t>אֵיפֹה</a:t>
            </a:r>
            <a:r>
              <a:rPr sz="1600" b="0" i="0">
                <a:solidFill>
                  <a:srgbClr val="0C1C36"/>
                </a:solidFill>
              </a:rPr>
              <a:t>  (eifo)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Réponse souvent avec article fusionné : בַּ, לַ, מֵהַ.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Où est le chat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Where is the cat?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אֵיפֹה הֶחָתוּל?</a:t>
            </a:r>
            <a:r>
              <a:rPr sz="1400" b="0" i="0">
                <a:solidFill>
                  <a:srgbClr val="0C1C36"/>
                </a:solidFill>
              </a:rPr>
              <a:t>  (eifo hechatul?)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Sous la table.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Under the table.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מִתַּחַת לַשֻּׁלְחָן.</a:t>
            </a:r>
            <a:r>
              <a:rPr sz="1400" b="0" i="0">
                <a:solidFill>
                  <a:srgbClr val="0C1C36"/>
                </a:solidFill>
              </a:rPr>
              <a:t>  (mitachat lashulchan.)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C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C1C36"/>
                </a:solidFill>
              </a:rPr>
              <a:t>Quand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when   </a:t>
            </a:r>
            <a:r>
              <a:rPr sz="2800" b="0" i="0">
                <a:solidFill>
                  <a:srgbClr val="0C1C36"/>
                </a:solidFill>
              </a:rPr>
              <a:t>מָתַי</a:t>
            </a:r>
            <a:r>
              <a:rPr sz="1600" b="0" i="0">
                <a:solidFill>
                  <a:srgbClr val="0C1C36"/>
                </a:solidFill>
              </a:rPr>
              <a:t>  (matai)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Composés : עַד מָתַי (jusqu'à quand), מִמָּתַי (depuis quand).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Quand manges-tu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When do you eat?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מָתַי אַתָּה אוֹכֵל?</a:t>
            </a:r>
            <a:r>
              <a:rPr sz="1400" b="0" i="0">
                <a:solidFill>
                  <a:srgbClr val="0C1C36"/>
                </a:solidFill>
              </a:rPr>
              <a:t>  (matai ata ochel?)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À midi.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At noon.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בַּצָּהֳרַיִם.</a:t>
            </a:r>
            <a:r>
              <a:rPr sz="1400" b="0" i="0">
                <a:solidFill>
                  <a:srgbClr val="0C1C36"/>
                </a:solidFill>
              </a:rPr>
              <a:t>  (batsohorayim.)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C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C1C36"/>
                </a:solidFill>
              </a:rPr>
              <a:t>Comment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how   </a:t>
            </a:r>
            <a:r>
              <a:rPr sz="2800" b="0" i="0">
                <a:solidFill>
                  <a:srgbClr val="0C1C36"/>
                </a:solidFill>
              </a:rPr>
              <a:t>אֵיךְ</a:t>
            </a:r>
            <a:r>
              <a:rPr sz="1600" b="0" i="0">
                <a:solidFill>
                  <a:srgbClr val="0C1C36"/>
                </a:solidFill>
              </a:rPr>
              <a:t>  (eikh)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Synonyme soutenu : כֵּיצַד (keitsad).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Comment vas-tu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How are you?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אֵיךְ אַתָּה מַרְגִּישׁ?</a:t>
            </a:r>
            <a:r>
              <a:rPr sz="1400" b="0" i="0">
                <a:solidFill>
                  <a:srgbClr val="0C1C36"/>
                </a:solidFill>
              </a:rPr>
              <a:t>  (eikh ata margish?)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Je vais bien.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I'm fine.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אֲנִי מַרְגִּישׁ טוֹב.</a:t>
            </a:r>
            <a:r>
              <a:rPr sz="1400" b="0" i="0">
                <a:solidFill>
                  <a:srgbClr val="0C1C36"/>
                </a:solidFill>
              </a:rPr>
              <a:t>  (ani margish tov.)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B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C1C36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C1C36"/>
                </a:solidFill>
              </a:rPr>
              <a:t>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1C36"/>
                </a:solidFill>
              </a:rPr>
              <a:t>why   </a:t>
            </a:r>
            <a:r>
              <a:rPr sz="2800" b="0" i="0">
                <a:solidFill>
                  <a:srgbClr val="0C1C36"/>
                </a:solidFill>
              </a:rPr>
              <a:t>לָמָּה</a:t>
            </a:r>
            <a:r>
              <a:rPr sz="1600" b="0" i="0">
                <a:solidFill>
                  <a:srgbClr val="0C1C36"/>
                </a:solidFill>
              </a:rPr>
              <a:t>  (lama)</a:t>
            </a:r>
          </a:p>
          <a:p>
            <a:pPr algn="ctr"/>
            <a:r>
              <a:rPr sz="1300" b="0" i="1">
                <a:solidFill>
                  <a:srgbClr val="0C1C36"/>
                </a:solidFill>
              </a:rPr>
              <a:t>Aussi מַדּוּעַ (soutenu). Réponse : כִּי (parce que).</a:t>
            </a:r>
          </a:p>
          <a:p>
            <a:pPr algn="ctr"/>
            <a:r>
              <a:rPr sz="7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Q :  Pourquoi pleures-tu ?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Why are you crying?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לָמָּה אַתָּה בּוֹכֶה?</a:t>
            </a:r>
            <a:r>
              <a:rPr sz="1400" b="0" i="0">
                <a:solidFill>
                  <a:srgbClr val="0C1C36"/>
                </a:solidFill>
              </a:rPr>
              <a:t>  (lama ata boche?)</a:t>
            </a:r>
          </a:p>
          <a:p>
            <a:pPr algn="ctr"/>
            <a:r>
              <a:rPr sz="600" b="0" i="0">
                <a:solidFill>
                  <a:srgbClr val="0C1C36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C1C36"/>
                </a:solidFill>
              </a:rPr>
              <a:t>R :  Parce que je suis triste.</a:t>
            </a:r>
          </a:p>
          <a:p>
            <a:pPr algn="ctr"/>
            <a:r>
              <a:rPr sz="1400" b="0" i="0">
                <a:solidFill>
                  <a:srgbClr val="0C1C36"/>
                </a:solidFill>
              </a:rPr>
              <a:t>Because I'm sad.</a:t>
            </a:r>
          </a:p>
          <a:p>
            <a:pPr algn="ctr"/>
            <a:r>
              <a:rPr sz="2000" b="0" i="0">
                <a:solidFill>
                  <a:srgbClr val="0C1C36"/>
                </a:solidFill>
              </a:rPr>
              <a:t>כִּי אֲנִי עָצוּב.</a:t>
            </a:r>
            <a:r>
              <a:rPr sz="1400" b="0" i="0">
                <a:solidFill>
                  <a:srgbClr val="0C1C36"/>
                </a:solidFill>
              </a:rPr>
              <a:t>  (ki ani atsuv.)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B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Combien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how much   </a:t>
            </a:r>
            <a:r>
              <a:rPr sz="2800" b="0" i="0">
                <a:solidFill>
                  <a:srgbClr val="FFFFFF"/>
                </a:solidFill>
              </a:rPr>
              <a:t>כַּמָּה</a:t>
            </a:r>
            <a:r>
              <a:rPr sz="1600" b="0" i="0">
                <a:solidFill>
                  <a:srgbClr val="FFFFFF"/>
                </a:solidFill>
              </a:rPr>
              <a:t>  (kama)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Pour l'âge : בֶּן כַּמָּה (m.) / בַּת כַּמָּה (f.).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Quel âge as-tu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How old are you?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בֶּן כַּמָּה אַתָּה?</a:t>
            </a:r>
            <a:r>
              <a:rPr sz="1400" b="0" i="0">
                <a:solidFill>
                  <a:srgbClr val="FFFFFF"/>
                </a:solidFill>
              </a:rPr>
              <a:t>  (ben kama ata?)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J'ai six ans.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I'm six years old.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אֲנִי בֶּן שֵׁשׁ.</a:t>
            </a:r>
            <a:r>
              <a:rPr sz="1400" b="0" i="0">
                <a:solidFill>
                  <a:srgbClr val="FFFFFF"/>
                </a:solidFill>
              </a:rPr>
              <a:t>  (ani ben shesh.)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B1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Quel / Lequel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which   </a:t>
            </a:r>
            <a:r>
              <a:rPr sz="2800" b="0" i="0">
                <a:solidFill>
                  <a:srgbClr val="FFFFFF"/>
                </a:solidFill>
              </a:rPr>
              <a:t>אֵיזֶה</a:t>
            </a:r>
            <a:r>
              <a:rPr sz="1600" b="0" i="0">
                <a:solidFill>
                  <a:srgbClr val="FFFFFF"/>
                </a:solidFill>
              </a:rPr>
              <a:t>  (eize)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S'accorde : אֵיזֶה (m.), אֵיזוֹ (f.), אֵילוּ (pl.).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Quel livre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Which book?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אֵיזֶה סֵפֶר?</a:t>
            </a:r>
            <a:r>
              <a:rPr sz="1400" b="0" i="0">
                <a:solidFill>
                  <a:srgbClr val="FFFFFF"/>
                </a:solidFill>
              </a:rPr>
              <a:t>  (eize sefer?)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Le livre rouge.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red book.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הַסֵּפֶר הָאָדוֹם.</a:t>
            </a:r>
            <a:r>
              <a:rPr sz="1400" b="0" i="0">
                <a:solidFill>
                  <a:srgbClr val="FFFFFF"/>
                </a:solidFill>
              </a:rPr>
              <a:t>  (hasefer ha'adom.)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AA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À 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to whom   </a:t>
            </a:r>
            <a:r>
              <a:rPr sz="2800" b="0" i="0">
                <a:solidFill>
                  <a:srgbClr val="FFFFFF"/>
                </a:solidFill>
              </a:rPr>
              <a:t>לְמִי</a:t>
            </a:r>
            <a:r>
              <a:rPr sz="1600" b="0" i="0">
                <a:solidFill>
                  <a:srgbClr val="FFFFFF"/>
                </a:solidFill>
              </a:rPr>
              <a:t>  (lemi)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לְ (à) + מִי (qui).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À qui donnes-tu le cadeau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To whom do you give the gift?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לְמִי אַתָּה נוֹתֵן אֶת הַמַּתָּנָה?</a:t>
            </a:r>
            <a:r>
              <a:rPr sz="1400" b="0" i="0">
                <a:solidFill>
                  <a:srgbClr val="FFFFFF"/>
                </a:solidFill>
              </a:rPr>
              <a:t>  (lemi ata noten et hamatana?)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À ma mère.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To my mother.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לְאִמָּא שֶׁלִּי.</a:t>
            </a:r>
            <a:r>
              <a:rPr sz="1400" b="0" i="0">
                <a:solidFill>
                  <a:srgbClr val="FFFFFF"/>
                </a:solidFill>
              </a:rPr>
              <a:t>  (le'ima sheli.)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De 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about whom   </a:t>
            </a:r>
            <a:r>
              <a:rPr sz="2800" b="0" i="0">
                <a:solidFill>
                  <a:srgbClr val="FFFFFF"/>
                </a:solidFill>
              </a:rPr>
              <a:t>עַל מִי</a:t>
            </a:r>
            <a:r>
              <a:rPr sz="1600" b="0" i="0">
                <a:solidFill>
                  <a:srgbClr val="FFFFFF"/>
                </a:solidFill>
              </a:rPr>
              <a:t>  (al mi)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עַל (sur) + מִי.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De qui parles-tu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About whom are you talking?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עַל מִי אַתָּה מְדַבֵּר?</a:t>
            </a:r>
            <a:r>
              <a:rPr sz="1400" b="0" i="0">
                <a:solidFill>
                  <a:srgbClr val="FFFFFF"/>
                </a:solidFill>
              </a:rPr>
              <a:t>  (al mi ata medaber?)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De ma sœur.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About my sister.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עַל אֲחוֹתִי.</a:t>
            </a:r>
            <a:r>
              <a:rPr sz="1400" b="0" i="0">
                <a:solidFill>
                  <a:srgbClr val="FFFFFF"/>
                </a:solidFill>
              </a:rPr>
              <a:t>  (al achoti.)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E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Avec 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with whom   </a:t>
            </a:r>
            <a:r>
              <a:rPr sz="2800" b="0" i="0">
                <a:solidFill>
                  <a:srgbClr val="FFFFFF"/>
                </a:solidFill>
              </a:rPr>
              <a:t>עִם מִי</a:t>
            </a:r>
            <a:r>
              <a:rPr sz="1600" b="0" i="0">
                <a:solidFill>
                  <a:srgbClr val="FFFFFF"/>
                </a:solidFill>
              </a:rPr>
              <a:t>  (im mi)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עִם (avec) + מִי.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Avec qui joues-tu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With whom do you play?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עִם מִי אַתָּה מְשַׂחֵק?</a:t>
            </a:r>
            <a:r>
              <a:rPr sz="1400" b="0" i="0">
                <a:solidFill>
                  <a:srgbClr val="FFFFFF"/>
                </a:solidFill>
              </a:rPr>
              <a:t>  (im mi ata mesachek?)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Avec mon frère.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With my brother.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עִם אָחִי.</a:t>
            </a:r>
            <a:r>
              <a:rPr sz="1400" b="0" i="0">
                <a:solidFill>
                  <a:srgbClr val="FFFFFF"/>
                </a:solidFill>
              </a:rPr>
              <a:t>  (im achi.)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98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À qui (à qui est-ce)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whose   </a:t>
            </a:r>
            <a:r>
              <a:rPr sz="2800" b="0" i="0">
                <a:solidFill>
                  <a:srgbClr val="FFFFFF"/>
                </a:solidFill>
              </a:rPr>
              <a:t>שֶׁל מִי</a:t>
            </a:r>
            <a:r>
              <a:rPr sz="1600" b="0" i="0">
                <a:solidFill>
                  <a:srgbClr val="FFFFFF"/>
                </a:solidFill>
              </a:rPr>
              <a:t>  (shel mi)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שֶׁל (de) + מִי = possession.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C'est le livre de qui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Whose book is it?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שֶׁל מִי הַסֵּפֶר?</a:t>
            </a:r>
            <a:r>
              <a:rPr sz="1400" b="0" i="0">
                <a:solidFill>
                  <a:srgbClr val="FFFFFF"/>
                </a:solidFill>
              </a:rPr>
              <a:t>  (shel mi hasefer?)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C'est le mien.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It's mine.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שֶׁלִּי.</a:t>
            </a:r>
            <a:r>
              <a:rPr sz="1400" b="0" i="0">
                <a:solidFill>
                  <a:srgbClr val="FFFFFF"/>
                </a:solidFill>
              </a:rPr>
              <a:t>  (sheli.)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9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De 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about what   </a:t>
            </a:r>
            <a:r>
              <a:rPr sz="2800" b="0" i="0">
                <a:solidFill>
                  <a:srgbClr val="FFFFFF"/>
                </a:solidFill>
              </a:rPr>
              <a:t>עַל מָה</a:t>
            </a:r>
            <a:r>
              <a:rPr sz="1600" b="0" i="0">
                <a:solidFill>
                  <a:srgbClr val="FFFFFF"/>
                </a:solidFill>
              </a:rPr>
              <a:t>  (al ma)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עַל (sur) + מָה.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De quoi parles-tu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What are you talking about?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עַל מָה אַתָּה מְדַבֵּר?</a:t>
            </a:r>
            <a:r>
              <a:rPr sz="1400" b="0" i="0">
                <a:solidFill>
                  <a:srgbClr val="FFFFFF"/>
                </a:solidFill>
              </a:rPr>
              <a:t>  (al ma ata medaber?)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Du film.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About the movie.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עַל הַסֶּרֶט.</a:t>
            </a:r>
            <a:r>
              <a:rPr sz="1400" b="0" i="0">
                <a:solidFill>
                  <a:srgbClr val="FFFFFF"/>
                </a:solidFill>
              </a:rPr>
              <a:t>  (al haseret.)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Avec 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with what   </a:t>
            </a:r>
            <a:r>
              <a:rPr sz="2800" b="0" i="0">
                <a:solidFill>
                  <a:srgbClr val="FFFFFF"/>
                </a:solidFill>
              </a:rPr>
              <a:t>בְּמָה</a:t>
            </a:r>
            <a:r>
              <a:rPr sz="1600" b="0" i="0">
                <a:solidFill>
                  <a:srgbClr val="FFFFFF"/>
                </a:solidFill>
              </a:rPr>
              <a:t>  (bema)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בְּ (avec/par) + מָה.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Avec quoi écris-tu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What do you write with?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בְּמָה אַתָּה כּוֹתֵב?</a:t>
            </a:r>
            <a:r>
              <a:rPr sz="1400" b="0" i="0">
                <a:solidFill>
                  <a:srgbClr val="FFFFFF"/>
                </a:solidFill>
              </a:rPr>
              <a:t>  (bema ata kotev?)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Avec un crayon.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With a pencil.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בְּעִפָּרוֹן.</a:t>
            </a:r>
            <a:r>
              <a:rPr sz="1400" b="0" i="0">
                <a:solidFill>
                  <a:srgbClr val="FFFFFF"/>
                </a:solidFill>
              </a:rPr>
              <a:t>  (be'iparon.)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D'où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from where   </a:t>
            </a:r>
            <a:r>
              <a:rPr sz="2800" b="0" i="0">
                <a:solidFill>
                  <a:srgbClr val="FFFFFF"/>
                </a:solidFill>
              </a:rPr>
              <a:t>מֵאַיִן</a:t>
            </a:r>
            <a:r>
              <a:rPr sz="1600" b="0" i="0">
                <a:solidFill>
                  <a:srgbClr val="FFFFFF"/>
                </a:solidFill>
              </a:rPr>
              <a:t>  (me'ayin)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מִן (de) + אַיִן. Aussi מֵאֵיפֹה.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D'où viens-tu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Where do you come from?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מֵאַיִן אַתָּה?</a:t>
            </a:r>
            <a:r>
              <a:rPr sz="1400" b="0" i="0">
                <a:solidFill>
                  <a:srgbClr val="FFFFFF"/>
                </a:solidFill>
              </a:rPr>
              <a:t>  (me'ayin ata?)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De la maison.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From home.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מֵהַבַּיִת.</a:t>
            </a:r>
            <a:r>
              <a:rPr sz="1400" b="0" i="0">
                <a:solidFill>
                  <a:srgbClr val="FFFFFF"/>
                </a:solidFill>
              </a:rPr>
              <a:t>  (mehabayit.)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79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Où (vers)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where to   </a:t>
            </a:r>
            <a:r>
              <a:rPr sz="2800" b="0" i="0">
                <a:solidFill>
                  <a:srgbClr val="FFFFFF"/>
                </a:solidFill>
              </a:rPr>
              <a:t>לְאָן</a:t>
            </a:r>
            <a:r>
              <a:rPr sz="1600" b="0" i="0">
                <a:solidFill>
                  <a:srgbClr val="FFFFFF"/>
                </a:solidFill>
              </a:rPr>
              <a:t>  (le'an)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לְ (vers) + אָן.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Où vas-tu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Where are you going?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לְאָן אַתָּה הוֹלֵךְ?</a:t>
            </a:r>
            <a:r>
              <a:rPr sz="1400" b="0" i="0">
                <a:solidFill>
                  <a:srgbClr val="FFFFFF"/>
                </a:solidFill>
              </a:rPr>
              <a:t>  (le'an ata holekh?)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À l'école.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To school.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לְבֵית הַסֵּפֶר.</a:t>
            </a:r>
            <a:r>
              <a:rPr sz="1400" b="0" i="0">
                <a:solidFill>
                  <a:srgbClr val="FFFFFF"/>
                </a:solidFill>
              </a:rPr>
              <a:t>  (leveit hasefer.)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70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Jusqu'à quand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until when   </a:t>
            </a:r>
            <a:r>
              <a:rPr sz="2800" b="0" i="0">
                <a:solidFill>
                  <a:srgbClr val="FFFFFF"/>
                </a:solidFill>
              </a:rPr>
              <a:t>עַד מָתַי</a:t>
            </a:r>
            <a:r>
              <a:rPr sz="1600" b="0" i="0">
                <a:solidFill>
                  <a:srgbClr val="FFFFFF"/>
                </a:solidFill>
              </a:rPr>
              <a:t>  (ad matai)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עַד (jusqu'à) + מָתַי.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Jusqu'à quand restes-tu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Until when do you stay?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עַד מָתַי אַתָּה נִשְׁאָר?</a:t>
            </a:r>
            <a:r>
              <a:rPr sz="1400" b="0" i="0">
                <a:solidFill>
                  <a:srgbClr val="FFFFFF"/>
                </a:solidFill>
              </a:rPr>
              <a:t>  (ad matai ata nishar?)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Jusqu'à demain.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Until tomorrow.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עַד מָחָר.</a:t>
            </a:r>
            <a:r>
              <a:rPr sz="1400" b="0" i="0">
                <a:solidFill>
                  <a:srgbClr val="FFFFFF"/>
                </a:solidFill>
              </a:rPr>
              <a:t>  (ad machar.)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6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QUESTION + PRÉPOSITION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Depuis quand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since when   </a:t>
            </a:r>
            <a:r>
              <a:rPr sz="2800" b="0" i="0">
                <a:solidFill>
                  <a:srgbClr val="FFFFFF"/>
                </a:solidFill>
              </a:rPr>
              <a:t>מִמָּתַי</a:t>
            </a:r>
            <a:r>
              <a:rPr sz="1600" b="0" i="0">
                <a:solidFill>
                  <a:srgbClr val="FFFFFF"/>
                </a:solidFill>
              </a:rPr>
              <a:t>  (mimatai)</a:t>
            </a:r>
          </a:p>
          <a:p>
            <a:pPr algn="ctr"/>
            <a:r>
              <a:rPr sz="1300" b="0" i="1">
                <a:solidFill>
                  <a:srgbClr val="FFFFFF"/>
                </a:solidFill>
              </a:rPr>
              <a:t>מִן (depuis) + מָתַי.</a:t>
            </a:r>
          </a:p>
          <a:p>
            <a:pPr algn="ctr"/>
            <a:r>
              <a:rPr sz="7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Q :  Depuis quand es-tu ici ?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Since when have you been here?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מִמָּתַי אַתָּה כָּאן?</a:t>
            </a:r>
            <a:r>
              <a:rPr sz="1400" b="0" i="0">
                <a:solidFill>
                  <a:srgbClr val="FFFFFF"/>
                </a:solidFill>
              </a:rPr>
              <a:t>  (mimatai ata kan?)</a:t>
            </a:r>
          </a:p>
          <a:p>
            <a:pPr algn="ctr"/>
            <a:r>
              <a:rPr sz="6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R :  Depuis hier.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Since yesterday.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מֵאֶתְמוֹל.</a:t>
            </a:r>
            <a:r>
              <a:rPr sz="1400" b="0" i="0">
                <a:solidFill>
                  <a:srgbClr val="FFFFFF"/>
                </a:solidFill>
              </a:rPr>
              <a:t>  (me'etmol.)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C1C36"/>
                </a:solidFill>
              </a:rPr>
              <a:t>« Quel ? » selon le genre et le nombre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85739"/>
              </p:ext>
            </p:extLst>
          </p:nvPr>
        </p:nvGraphicFramePr>
        <p:xfrm>
          <a:off x="548640" y="1188720"/>
          <a:ext cx="8046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Genre / </a:t>
                      </a:r>
                      <a:r>
                        <a:rPr sz="1400" b="1" dirty="0" err="1"/>
                        <a:t>nombre</a:t>
                      </a:r>
                      <a:endParaRPr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Hébreu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Phon.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Exemple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Masculin 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אֵיזֶה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אֵיזֶה סֵפֶר? — quel livre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Féminin 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אֵיזוֹ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eizo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אֵיזוֹ מַחְבֶּרֶת? — quel cahier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Pluriel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אֵילוּ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eilu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אֵילו</a:t>
                      </a:r>
                      <a:r>
                        <a:rPr sz="1300" dirty="0"/>
                        <a:t>ּ </a:t>
                      </a:r>
                      <a:r>
                        <a:rPr sz="1300" dirty="0" err="1"/>
                        <a:t>סְפָרִים</a:t>
                      </a:r>
                      <a:r>
                        <a:rPr sz="1300" dirty="0"/>
                        <a:t>? — </a:t>
                      </a:r>
                      <a:r>
                        <a:rPr sz="1300" dirty="0" err="1"/>
                        <a:t>quels</a:t>
                      </a:r>
                      <a:r>
                        <a:rPr sz="1300" dirty="0"/>
                        <a:t> livres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465A78"/>
                </a:solidFill>
              </a:rPr>
              <a:t>L'interrogatif « quel » s'accorde avec le nom qui suit.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C1C36"/>
                </a:solidFill>
              </a:rPr>
              <a:t>Mot interrogatif + préposition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508846"/>
              </p:ext>
            </p:extLst>
          </p:nvPr>
        </p:nvGraphicFramePr>
        <p:xfrm>
          <a:off x="548640" y="1188720"/>
          <a:ext cx="8046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Français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Hébreu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Phonétique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Décomposition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à qui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לְמִי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lemi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לְ + מִי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sur / de qui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עַל מִי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al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עַל + מִי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avec qui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עִם מִי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im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עִם + מִי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à qui (possession)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שֶׁל מִי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shel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שֶׁל + מִי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sur / de quoi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עַל מָה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al 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עַל + מָה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avec quoi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בְּמָה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בְּ + מָה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d'où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מֵאַיִן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me'ayin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מִן + אַיִן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vers où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לְאָן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le'an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לְ + אָן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jusqu'à quand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עַד מָתַי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ad matai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עַד + מָתַי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39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depuis quand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מִמָּתַי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mimatai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מִן</a:t>
                      </a:r>
                      <a:r>
                        <a:rPr sz="1300" dirty="0"/>
                        <a:t> + </a:t>
                      </a:r>
                      <a:r>
                        <a:rPr sz="1300" dirty="0" err="1"/>
                        <a:t>מָתַי</a:t>
                      </a:r>
                      <a:endParaRPr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465A78"/>
                </a:solidFill>
              </a:rPr>
              <a:t>La préposition se colle devant le mot interrogatif.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C1C36"/>
                </a:solidFill>
              </a:rPr>
              <a:t>L'article défini הַ (le / la / 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775781"/>
              </p:ext>
            </p:extLst>
          </p:nvPr>
        </p:nvGraphicFramePr>
        <p:xfrm>
          <a:off x="548640" y="1188720"/>
          <a:ext cx="8046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Préposition + 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Devient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Exemple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ה</a:t>
                      </a:r>
                      <a:r>
                        <a:rPr sz="1300" dirty="0"/>
                        <a:t>ַ (article seul)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הַיֶּלֶד — l'enfant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בְּ (dans) + 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בַּ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בַּבַּיִת — dans la maison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לְ (à, vers) + 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לַיֶּלֶד — à l'enfant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כְּ (comme) + 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כַּ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כַּכֶּלֶב — comme le chien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מִן (de) + 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מֵהַ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מֵהַג</a:t>
                      </a:r>
                      <a:r>
                        <a:rPr sz="1300" dirty="0"/>
                        <a:t>ַּ</a:t>
                      </a:r>
                      <a:r>
                        <a:rPr sz="1300" dirty="0" err="1"/>
                        <a:t>ן</a:t>
                      </a:r>
                      <a:r>
                        <a:rPr sz="1300" dirty="0"/>
                        <a:t> — du </a:t>
                      </a:r>
                      <a:r>
                        <a:rPr sz="1300" dirty="0" err="1"/>
                        <a:t>jardin</a:t>
                      </a:r>
                      <a:endParaRPr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465A78"/>
                </a:solidFill>
              </a:rPr>
              <a:t>Ces fusions reviennent dans les réponses : où ? → בַּבַּיִת ; d'où ? → מֵהַגַּן ; à qui ? → לַיֶּלֶד.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1331</Words>
  <Application>Microsoft Macintosh PowerPoint</Application>
  <PresentationFormat>Affichage à l'écran (4:3)</PresentationFormat>
  <Paragraphs>302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Aptos Display</vt:lpstr>
      <vt:lpstr>Arial</vt:lpstr>
      <vt:lpstr>Calibri</vt:lpstr>
      <vt:lpstr>Office Theme</vt:lpstr>
      <vt:lpstr>Questions qui · que · où · quand · comment · pourquoi · combien · quel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5</cp:revision>
  <dcterms:created xsi:type="dcterms:W3CDTF">2013-01-27T09:14:16Z</dcterms:created>
  <dcterms:modified xsi:type="dcterms:W3CDTF">2026-06-18T03:40:40Z</dcterms:modified>
  <cp:category/>
</cp:coreProperties>
</file>