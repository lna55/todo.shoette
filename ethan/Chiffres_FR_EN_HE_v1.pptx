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4" r:id="rId2"/>
    <p:sldId id="285" r:id="rId3"/>
    <p:sldId id="286" r:id="rId4"/>
    <p:sldId id="287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301" r:id="rId19"/>
    <p:sldId id="302" r:id="rId20"/>
    <p:sldId id="303" r:id="rId21"/>
    <p:sldId id="304" r:id="rId22"/>
    <p:sldId id="305" r:id="rId23"/>
    <p:sldId id="306" r:id="rId24"/>
    <p:sldId id="307" r:id="rId25"/>
    <p:sldId id="308" r:id="rId26"/>
    <p:sldId id="309" r:id="rId27"/>
    <p:sldId id="310" r:id="rId28"/>
    <p:sldId id="311" r:id="rId29"/>
    <p:sldId id="312" r:id="rId30"/>
    <p:sldId id="313" r:id="rId31"/>
    <p:sldId id="314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BBE72"/>
    <a:srgbClr val="42A764"/>
    <a:srgbClr val="0A0C3A"/>
    <a:srgbClr val="0A0B35"/>
    <a:srgbClr val="14155E"/>
    <a:srgbClr val="BD9D34"/>
    <a:srgbClr val="949B82"/>
    <a:srgbClr val="979B74"/>
    <a:srgbClr val="9D8F76"/>
    <a:srgbClr val="F896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022"/>
    <p:restoredTop sz="94726"/>
  </p:normalViewPr>
  <p:slideViewPr>
    <p:cSldViewPr snapToGrid="0" snapToObjects="1">
      <p:cViewPr varScale="1">
        <p:scale>
          <a:sx n="116" d="100"/>
          <a:sy n="116" d="100"/>
        </p:scale>
        <p:origin x="124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CA1E23-E3D2-0858-5FFB-DB6E5B8BD1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699022"/>
            <a:ext cx="6858000" cy="2587228"/>
          </a:xfrm>
        </p:spPr>
        <p:txBody>
          <a:bodyPr>
            <a:normAutofit/>
          </a:bodyPr>
          <a:lstStyle/>
          <a:p>
            <a:r>
              <a:rPr sz="12000" b="1">
                <a:solidFill>
                  <a:srgbClr val="D14F4F"/>
                </a:solidFill>
                <a:latin typeface="Aptos Display"/>
              </a:rPr>
              <a:t>C</a:t>
            </a:r>
            <a:r>
              <a:rPr sz="12000" b="1">
                <a:solidFill>
                  <a:srgbClr val="D1B04F"/>
                </a:solidFill>
                <a:latin typeface="Aptos Display"/>
              </a:rPr>
              <a:t>h</a:t>
            </a:r>
            <a:r>
              <a:rPr sz="12000" b="1">
                <a:solidFill>
                  <a:srgbClr val="90D14F"/>
                </a:solidFill>
                <a:latin typeface="Aptos Display"/>
              </a:rPr>
              <a:t>i</a:t>
            </a:r>
            <a:r>
              <a:rPr sz="12000" b="1">
                <a:solidFill>
                  <a:srgbClr val="4FD16F"/>
                </a:solidFill>
                <a:latin typeface="Aptos Display"/>
              </a:rPr>
              <a:t>f</a:t>
            </a:r>
            <a:r>
              <a:rPr sz="12000" b="1">
                <a:solidFill>
                  <a:srgbClr val="4FD1D1"/>
                </a:solidFill>
                <a:latin typeface="Aptos Display"/>
              </a:rPr>
              <a:t>f</a:t>
            </a:r>
            <a:r>
              <a:rPr sz="12000" b="1">
                <a:solidFill>
                  <a:srgbClr val="4F6FD1"/>
                </a:solidFill>
                <a:latin typeface="Aptos Display"/>
              </a:rPr>
              <a:t>r</a:t>
            </a:r>
            <a:r>
              <a:rPr sz="12000" b="1">
                <a:solidFill>
                  <a:srgbClr val="904FD1"/>
                </a:solidFill>
                <a:latin typeface="Aptos Display"/>
              </a:rPr>
              <a:t>e</a:t>
            </a:r>
            <a:r>
              <a:rPr sz="12000" b="1">
                <a:solidFill>
                  <a:srgbClr val="D14FB0"/>
                </a:solidFill>
                <a:latin typeface="Aptos Display"/>
              </a:rPr>
              <a:t>s</a:t>
            </a:r>
            <a:endParaRPr lang="en-US" sz="12000" b="1" dirty="0">
              <a:solidFill>
                <a:srgbClr val="F3F21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7943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4F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11480"/>
            <a:ext cx="73152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31720"/>
            <a:ext cx="8229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Zéro</a:t>
            </a:r>
          </a:p>
          <a:p>
            <a:pPr algn="ctr"/>
            <a:r>
              <a:rPr sz="4000">
                <a:solidFill>
                  <a:srgbClr val="FFFFFF"/>
                </a:solidFill>
              </a:rPr>
              <a:t>Zero</a:t>
            </a:r>
          </a:p>
          <a:p>
            <a:pPr algn="ctr"/>
            <a:r>
              <a:rPr sz="4000">
                <a:solidFill>
                  <a:srgbClr val="FFFFFF"/>
                </a:solidFill>
              </a:rPr>
              <a:t>אֶפֶס</a:t>
            </a:r>
            <a:r>
              <a:rPr sz="2200">
                <a:solidFill>
                  <a:srgbClr val="FFFFFF"/>
                </a:solidFill>
              </a:rPr>
              <a:t>  (efes)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69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11480"/>
            <a:ext cx="73152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31720"/>
            <a:ext cx="8229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Un</a:t>
            </a:r>
          </a:p>
          <a:p>
            <a:pPr algn="ctr"/>
            <a:r>
              <a:rPr sz="4000">
                <a:solidFill>
                  <a:srgbClr val="FFFFFF"/>
                </a:solidFill>
              </a:rPr>
              <a:t>One</a:t>
            </a:r>
          </a:p>
          <a:p>
            <a:pPr algn="ctr"/>
            <a:r>
              <a:rPr sz="4000">
                <a:solidFill>
                  <a:srgbClr val="FFFFFF"/>
                </a:solidFill>
              </a:rPr>
              <a:t>אַחַת</a:t>
            </a:r>
            <a:r>
              <a:rPr sz="2200">
                <a:solidFill>
                  <a:srgbClr val="FFFFFF"/>
                </a:solidFill>
              </a:rPr>
              <a:t>  (achat – f.)</a:t>
            </a:r>
          </a:p>
          <a:p>
            <a:pPr algn="ctr"/>
            <a:r>
              <a:rPr sz="4000">
                <a:solidFill>
                  <a:srgbClr val="FFFFFF"/>
                </a:solidFill>
              </a:rPr>
              <a:t>אֶחָד</a:t>
            </a:r>
            <a:r>
              <a:rPr sz="2200">
                <a:solidFill>
                  <a:srgbClr val="FFFFFF"/>
                </a:solidFill>
              </a:rPr>
              <a:t>  (echad – m.)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83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11480"/>
            <a:ext cx="73152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31720"/>
            <a:ext cx="8229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Deux</a:t>
            </a:r>
          </a:p>
          <a:p>
            <a:pPr algn="ctr"/>
            <a:r>
              <a:rPr sz="4000">
                <a:solidFill>
                  <a:srgbClr val="FFFFFF"/>
                </a:solidFill>
              </a:rPr>
              <a:t>Two</a:t>
            </a:r>
          </a:p>
          <a:p>
            <a:pPr algn="ctr"/>
            <a:r>
              <a:rPr sz="4000">
                <a:solidFill>
                  <a:srgbClr val="FFFFFF"/>
                </a:solidFill>
              </a:rPr>
              <a:t>שְׁתַּיִם</a:t>
            </a:r>
            <a:r>
              <a:rPr sz="2200">
                <a:solidFill>
                  <a:srgbClr val="FFFFFF"/>
                </a:solidFill>
              </a:rPr>
              <a:t>  (shtayim – f.)</a:t>
            </a:r>
          </a:p>
          <a:p>
            <a:pPr algn="ctr"/>
            <a:r>
              <a:rPr sz="4000">
                <a:solidFill>
                  <a:srgbClr val="FFFFFF"/>
                </a:solidFill>
              </a:rPr>
              <a:t>שְׁנַיִם</a:t>
            </a:r>
            <a:r>
              <a:rPr sz="2200">
                <a:solidFill>
                  <a:srgbClr val="FFFFFF"/>
                </a:solidFill>
              </a:rPr>
              <a:t>  (shnayim – m.)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9D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11480"/>
            <a:ext cx="73152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31720"/>
            <a:ext cx="8229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Trois</a:t>
            </a:r>
          </a:p>
          <a:p>
            <a:pPr algn="ctr"/>
            <a:r>
              <a:rPr sz="4000">
                <a:solidFill>
                  <a:srgbClr val="FFFFFF"/>
                </a:solidFill>
              </a:rPr>
              <a:t>Three</a:t>
            </a:r>
          </a:p>
          <a:p>
            <a:pPr algn="ctr"/>
            <a:r>
              <a:rPr sz="4000">
                <a:solidFill>
                  <a:srgbClr val="FFFFFF"/>
                </a:solidFill>
              </a:rPr>
              <a:t>שָׁלוֹשׁ</a:t>
            </a:r>
            <a:r>
              <a:rPr sz="2200">
                <a:solidFill>
                  <a:srgbClr val="FFFFFF"/>
                </a:solidFill>
              </a:rPr>
              <a:t>  (shalosh – f.)</a:t>
            </a:r>
          </a:p>
          <a:p>
            <a:pPr algn="ctr"/>
            <a:r>
              <a:rPr sz="4000">
                <a:solidFill>
                  <a:srgbClr val="FFFFFF"/>
                </a:solidFill>
              </a:rPr>
              <a:t>שְׁלוֹשָׁה</a:t>
            </a:r>
            <a:r>
              <a:rPr sz="2200">
                <a:solidFill>
                  <a:srgbClr val="FFFFFF"/>
                </a:solidFill>
              </a:rPr>
              <a:t>  (shlosha – m.)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B7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11480"/>
            <a:ext cx="73152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31720"/>
            <a:ext cx="8229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</a:rPr>
              <a:t>Quatre</a:t>
            </a:r>
          </a:p>
          <a:p>
            <a:pPr algn="ctr"/>
            <a:r>
              <a:rPr sz="4000">
                <a:solidFill>
                  <a:srgbClr val="000000"/>
                </a:solidFill>
              </a:rPr>
              <a:t>Four</a:t>
            </a:r>
          </a:p>
          <a:p>
            <a:pPr algn="ctr"/>
            <a:r>
              <a:rPr sz="4000">
                <a:solidFill>
                  <a:srgbClr val="000000"/>
                </a:solidFill>
              </a:rPr>
              <a:t>אַרְבַּע</a:t>
            </a:r>
            <a:r>
              <a:rPr sz="2200">
                <a:solidFill>
                  <a:srgbClr val="000000"/>
                </a:solidFill>
              </a:rPr>
              <a:t>  (arba – f.)</a:t>
            </a:r>
          </a:p>
          <a:p>
            <a:pPr algn="ctr"/>
            <a:r>
              <a:rPr sz="4000">
                <a:solidFill>
                  <a:srgbClr val="000000"/>
                </a:solidFill>
              </a:rPr>
              <a:t>אַרְבָּעָה</a:t>
            </a:r>
            <a:r>
              <a:rPr sz="2200">
                <a:solidFill>
                  <a:srgbClr val="000000"/>
                </a:solidFill>
              </a:rPr>
              <a:t>  (arba'a – m.)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D1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11480"/>
            <a:ext cx="73152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31720"/>
            <a:ext cx="8229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</a:rPr>
              <a:t>Cinq</a:t>
            </a:r>
          </a:p>
          <a:p>
            <a:pPr algn="ctr"/>
            <a:r>
              <a:rPr sz="4000">
                <a:solidFill>
                  <a:srgbClr val="000000"/>
                </a:solidFill>
              </a:rPr>
              <a:t>Five</a:t>
            </a:r>
          </a:p>
          <a:p>
            <a:pPr algn="ctr"/>
            <a:r>
              <a:rPr sz="4000">
                <a:solidFill>
                  <a:srgbClr val="000000"/>
                </a:solidFill>
              </a:rPr>
              <a:t>חָמֵשׁ</a:t>
            </a:r>
            <a:r>
              <a:rPr sz="2200">
                <a:solidFill>
                  <a:srgbClr val="000000"/>
                </a:solidFill>
              </a:rPr>
              <a:t>  (chamesh – f.)</a:t>
            </a:r>
          </a:p>
          <a:p>
            <a:pPr algn="ctr"/>
            <a:r>
              <a:rPr sz="4000">
                <a:solidFill>
                  <a:srgbClr val="000000"/>
                </a:solidFill>
              </a:rPr>
              <a:t>חֲמִשָּׁה</a:t>
            </a:r>
            <a:r>
              <a:rPr sz="2200">
                <a:solidFill>
                  <a:srgbClr val="000000"/>
                </a:solidFill>
              </a:rPr>
              <a:t>  (chamisha – m.)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D1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11480"/>
            <a:ext cx="73152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31720"/>
            <a:ext cx="8229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</a:rPr>
              <a:t>Six</a:t>
            </a:r>
          </a:p>
          <a:p>
            <a:pPr algn="ctr"/>
            <a:r>
              <a:rPr sz="4000">
                <a:solidFill>
                  <a:srgbClr val="000000"/>
                </a:solidFill>
              </a:rPr>
              <a:t>Six</a:t>
            </a:r>
          </a:p>
          <a:p>
            <a:pPr algn="ctr"/>
            <a:r>
              <a:rPr sz="4000">
                <a:solidFill>
                  <a:srgbClr val="000000"/>
                </a:solidFill>
              </a:rPr>
              <a:t>שֵׁשׁ</a:t>
            </a:r>
            <a:r>
              <a:rPr sz="2200">
                <a:solidFill>
                  <a:srgbClr val="000000"/>
                </a:solidFill>
              </a:rPr>
              <a:t>  (shesh – f.)</a:t>
            </a:r>
          </a:p>
          <a:p>
            <a:pPr algn="ctr"/>
            <a:r>
              <a:rPr sz="4000">
                <a:solidFill>
                  <a:srgbClr val="000000"/>
                </a:solidFill>
              </a:rPr>
              <a:t>שִׁשָּׁה</a:t>
            </a:r>
            <a:r>
              <a:rPr sz="2200">
                <a:solidFill>
                  <a:srgbClr val="000000"/>
                </a:solidFill>
              </a:rPr>
              <a:t>  (shisha – m.)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DD1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11480"/>
            <a:ext cx="73152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0" b="1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31720"/>
            <a:ext cx="8229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</a:rPr>
              <a:t>Sept</a:t>
            </a:r>
          </a:p>
          <a:p>
            <a:pPr algn="ctr"/>
            <a:r>
              <a:rPr sz="4000">
                <a:solidFill>
                  <a:srgbClr val="000000"/>
                </a:solidFill>
              </a:rPr>
              <a:t>Seven</a:t>
            </a:r>
          </a:p>
          <a:p>
            <a:pPr algn="ctr"/>
            <a:r>
              <a:rPr sz="4000">
                <a:solidFill>
                  <a:srgbClr val="000000"/>
                </a:solidFill>
              </a:rPr>
              <a:t>שֶׁבַע</a:t>
            </a:r>
            <a:r>
              <a:rPr sz="2200">
                <a:solidFill>
                  <a:srgbClr val="000000"/>
                </a:solidFill>
              </a:rPr>
              <a:t>  (sheva – f.)</a:t>
            </a:r>
          </a:p>
          <a:p>
            <a:pPr algn="ctr"/>
            <a:r>
              <a:rPr sz="4000">
                <a:solidFill>
                  <a:srgbClr val="000000"/>
                </a:solidFill>
              </a:rPr>
              <a:t>שִׁבְעָה</a:t>
            </a:r>
            <a:r>
              <a:rPr sz="2200">
                <a:solidFill>
                  <a:srgbClr val="000000"/>
                </a:solidFill>
              </a:rPr>
              <a:t>  (shiv'a – m.)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3D1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11480"/>
            <a:ext cx="73152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0" b="1"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31720"/>
            <a:ext cx="8229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</a:rPr>
              <a:t>Huit</a:t>
            </a:r>
          </a:p>
          <a:p>
            <a:pPr algn="ctr"/>
            <a:r>
              <a:rPr sz="4000">
                <a:solidFill>
                  <a:srgbClr val="000000"/>
                </a:solidFill>
              </a:rPr>
              <a:t>Eight</a:t>
            </a:r>
          </a:p>
          <a:p>
            <a:pPr algn="ctr"/>
            <a:r>
              <a:rPr sz="4000">
                <a:solidFill>
                  <a:srgbClr val="000000"/>
                </a:solidFill>
              </a:rPr>
              <a:t>שְׁמוֹנֶה</a:t>
            </a:r>
            <a:r>
              <a:rPr sz="2200">
                <a:solidFill>
                  <a:srgbClr val="000000"/>
                </a:solidFill>
              </a:rPr>
              <a:t>  (shmone – f.)</a:t>
            </a:r>
          </a:p>
          <a:p>
            <a:pPr algn="ctr"/>
            <a:r>
              <a:rPr sz="4000">
                <a:solidFill>
                  <a:srgbClr val="000000"/>
                </a:solidFill>
              </a:rPr>
              <a:t>שְׁמוֹנָה</a:t>
            </a:r>
            <a:r>
              <a:rPr sz="2200">
                <a:solidFill>
                  <a:srgbClr val="000000"/>
                </a:solidFill>
              </a:rPr>
              <a:t>  (shmona – m.)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9D1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11480"/>
            <a:ext cx="73152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0" b="1">
                <a:solidFill>
                  <a:srgbClr val="000000"/>
                </a:solidFill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31720"/>
            <a:ext cx="8229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</a:rPr>
              <a:t>Neuf</a:t>
            </a:r>
          </a:p>
          <a:p>
            <a:pPr algn="ctr"/>
            <a:r>
              <a:rPr sz="4000">
                <a:solidFill>
                  <a:srgbClr val="000000"/>
                </a:solidFill>
              </a:rPr>
              <a:t>Nine</a:t>
            </a:r>
          </a:p>
          <a:p>
            <a:pPr algn="ctr"/>
            <a:r>
              <a:rPr sz="4000">
                <a:solidFill>
                  <a:srgbClr val="000000"/>
                </a:solidFill>
              </a:rPr>
              <a:t>תֵּשַׁע</a:t>
            </a:r>
            <a:r>
              <a:rPr sz="2200">
                <a:solidFill>
                  <a:srgbClr val="000000"/>
                </a:solidFill>
              </a:rPr>
              <a:t>  (tesha – f.)</a:t>
            </a:r>
          </a:p>
          <a:p>
            <a:pPr algn="ctr"/>
            <a:r>
              <a:rPr sz="4000">
                <a:solidFill>
                  <a:srgbClr val="000000"/>
                </a:solidFill>
              </a:rPr>
              <a:t>תִּשְׁעָה</a:t>
            </a:r>
            <a:r>
              <a:rPr sz="2200">
                <a:solidFill>
                  <a:srgbClr val="000000"/>
                </a:solidFill>
              </a:rPr>
              <a:t>  (tish'a – m.)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D1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11480"/>
            <a:ext cx="73152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0" b="1">
                <a:solidFill>
                  <a:srgbClr val="000000"/>
                </a:solidFill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31720"/>
            <a:ext cx="8229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</a:rPr>
              <a:t>Dix</a:t>
            </a:r>
          </a:p>
          <a:p>
            <a:pPr algn="ctr"/>
            <a:r>
              <a:rPr sz="4000">
                <a:solidFill>
                  <a:srgbClr val="000000"/>
                </a:solidFill>
              </a:rPr>
              <a:t>Ten</a:t>
            </a:r>
          </a:p>
          <a:p>
            <a:pPr algn="ctr"/>
            <a:r>
              <a:rPr sz="4000">
                <a:solidFill>
                  <a:srgbClr val="000000"/>
                </a:solidFill>
              </a:rPr>
              <a:t>עֶשֶׂר</a:t>
            </a:r>
            <a:r>
              <a:rPr sz="2200">
                <a:solidFill>
                  <a:srgbClr val="000000"/>
                </a:solidFill>
              </a:rPr>
              <a:t>  (eser – f.)</a:t>
            </a:r>
          </a:p>
          <a:p>
            <a:pPr algn="ctr"/>
            <a:r>
              <a:rPr sz="4000">
                <a:solidFill>
                  <a:srgbClr val="000000"/>
                </a:solidFill>
              </a:rPr>
              <a:t>עֲשָׂרָה</a:t>
            </a:r>
            <a:r>
              <a:rPr sz="2200">
                <a:solidFill>
                  <a:srgbClr val="000000"/>
                </a:solidFill>
              </a:rPr>
              <a:t>  (asara – m.)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D1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11480"/>
            <a:ext cx="73152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0" b="1">
                <a:solidFill>
                  <a:srgbClr val="000000"/>
                </a:solidFill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31720"/>
            <a:ext cx="8229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</a:rPr>
              <a:t>Onze</a:t>
            </a:r>
          </a:p>
          <a:p>
            <a:pPr algn="ctr"/>
            <a:r>
              <a:rPr sz="4000">
                <a:solidFill>
                  <a:srgbClr val="000000"/>
                </a:solidFill>
              </a:rPr>
              <a:t>Eleven</a:t>
            </a:r>
          </a:p>
          <a:p>
            <a:pPr algn="ctr"/>
            <a:r>
              <a:rPr sz="4000">
                <a:solidFill>
                  <a:srgbClr val="000000"/>
                </a:solidFill>
              </a:rPr>
              <a:t>אַחַת עֶשְׂרֵה</a:t>
            </a:r>
            <a:r>
              <a:rPr sz="2200">
                <a:solidFill>
                  <a:srgbClr val="000000"/>
                </a:solidFill>
              </a:rPr>
              <a:t>  (achat-esre – f.)</a:t>
            </a:r>
          </a:p>
          <a:p>
            <a:pPr algn="ctr"/>
            <a:r>
              <a:rPr sz="4000">
                <a:solidFill>
                  <a:srgbClr val="000000"/>
                </a:solidFill>
              </a:rPr>
              <a:t>אַחַד עָשָׂר</a:t>
            </a:r>
            <a:r>
              <a:rPr sz="2200">
                <a:solidFill>
                  <a:srgbClr val="000000"/>
                </a:solidFill>
              </a:rPr>
              <a:t>  (achad-asar – m.)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D1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11480"/>
            <a:ext cx="73152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0" b="1">
                <a:solidFill>
                  <a:srgbClr val="000000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31720"/>
            <a:ext cx="8229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</a:rPr>
              <a:t>Douze</a:t>
            </a:r>
          </a:p>
          <a:p>
            <a:pPr algn="ctr"/>
            <a:r>
              <a:rPr sz="4000">
                <a:solidFill>
                  <a:srgbClr val="000000"/>
                </a:solidFill>
              </a:rPr>
              <a:t>Twelve</a:t>
            </a:r>
          </a:p>
          <a:p>
            <a:pPr algn="ctr"/>
            <a:r>
              <a:rPr sz="4000">
                <a:solidFill>
                  <a:srgbClr val="000000"/>
                </a:solidFill>
              </a:rPr>
              <a:t>שְׁתֵּים עֶשְׂרֵה</a:t>
            </a:r>
            <a:r>
              <a:rPr sz="2200">
                <a:solidFill>
                  <a:srgbClr val="000000"/>
                </a:solidFill>
              </a:rPr>
              <a:t>  (shtem-esre – f.)</a:t>
            </a:r>
          </a:p>
          <a:p>
            <a:pPr algn="ctr"/>
            <a:r>
              <a:rPr sz="4000">
                <a:solidFill>
                  <a:srgbClr val="000000"/>
                </a:solidFill>
              </a:rPr>
              <a:t>שְׁנֵים עָשָׂר</a:t>
            </a:r>
            <a:r>
              <a:rPr sz="2200">
                <a:solidFill>
                  <a:srgbClr val="000000"/>
                </a:solidFill>
              </a:rPr>
              <a:t>  (shnem-asar – m.)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D1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11480"/>
            <a:ext cx="73152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0" b="1">
                <a:solidFill>
                  <a:srgbClr val="000000"/>
                </a:solidFill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31720"/>
            <a:ext cx="8229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</a:rPr>
              <a:t>Treize</a:t>
            </a:r>
          </a:p>
          <a:p>
            <a:pPr algn="ctr"/>
            <a:r>
              <a:rPr sz="4000">
                <a:solidFill>
                  <a:srgbClr val="000000"/>
                </a:solidFill>
              </a:rPr>
              <a:t>Thirteen</a:t>
            </a:r>
          </a:p>
          <a:p>
            <a:pPr algn="ctr"/>
            <a:r>
              <a:rPr sz="4000">
                <a:solidFill>
                  <a:srgbClr val="000000"/>
                </a:solidFill>
              </a:rPr>
              <a:t>שְׁלוֹשׁ עֶשְׂרֵה</a:t>
            </a:r>
            <a:r>
              <a:rPr sz="2200">
                <a:solidFill>
                  <a:srgbClr val="000000"/>
                </a:solidFill>
              </a:rPr>
              <a:t>  (shlosh-esre – f.)</a:t>
            </a:r>
          </a:p>
          <a:p>
            <a:pPr algn="ctr"/>
            <a:r>
              <a:rPr sz="4000">
                <a:solidFill>
                  <a:srgbClr val="000000"/>
                </a:solidFill>
              </a:rPr>
              <a:t>שְׁלוֹשָׁה עָשָׂר</a:t>
            </a:r>
            <a:r>
              <a:rPr sz="2200">
                <a:solidFill>
                  <a:srgbClr val="000000"/>
                </a:solidFill>
              </a:rPr>
              <a:t>  (shlosha-asar – m.)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D1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11480"/>
            <a:ext cx="73152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0" b="1">
                <a:solidFill>
                  <a:srgbClr val="000000"/>
                </a:solidFill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31720"/>
            <a:ext cx="8229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</a:rPr>
              <a:t>Quatorze</a:t>
            </a:r>
          </a:p>
          <a:p>
            <a:pPr algn="ctr"/>
            <a:r>
              <a:rPr sz="4000">
                <a:solidFill>
                  <a:srgbClr val="000000"/>
                </a:solidFill>
              </a:rPr>
              <a:t>Fourteen</a:t>
            </a:r>
          </a:p>
          <a:p>
            <a:pPr algn="ctr"/>
            <a:r>
              <a:rPr sz="4000">
                <a:solidFill>
                  <a:srgbClr val="000000"/>
                </a:solidFill>
              </a:rPr>
              <a:t>אַרְבַּע עֶשְׂרֵה</a:t>
            </a:r>
            <a:r>
              <a:rPr sz="2200">
                <a:solidFill>
                  <a:srgbClr val="000000"/>
                </a:solidFill>
              </a:rPr>
              <a:t>  (arba-esre – f.)</a:t>
            </a:r>
          </a:p>
          <a:p>
            <a:pPr algn="ctr"/>
            <a:r>
              <a:rPr sz="4000">
                <a:solidFill>
                  <a:srgbClr val="000000"/>
                </a:solidFill>
              </a:rPr>
              <a:t>אַרְבָּעָה עָשָׂר</a:t>
            </a:r>
            <a:r>
              <a:rPr sz="2200">
                <a:solidFill>
                  <a:srgbClr val="000000"/>
                </a:solidFill>
              </a:rPr>
              <a:t>  (arba'a-asar – m.)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D1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11480"/>
            <a:ext cx="73152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0" b="1">
                <a:solidFill>
                  <a:srgbClr val="000000"/>
                </a:solidFill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31720"/>
            <a:ext cx="8229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</a:rPr>
              <a:t>Quinze</a:t>
            </a:r>
          </a:p>
          <a:p>
            <a:pPr algn="ctr"/>
            <a:r>
              <a:rPr sz="4000">
                <a:solidFill>
                  <a:srgbClr val="000000"/>
                </a:solidFill>
              </a:rPr>
              <a:t>Fifteen</a:t>
            </a:r>
          </a:p>
          <a:p>
            <a:pPr algn="ctr"/>
            <a:r>
              <a:rPr sz="4000">
                <a:solidFill>
                  <a:srgbClr val="000000"/>
                </a:solidFill>
              </a:rPr>
              <a:t>חֲמֵשׁ עֶשְׂרֵה</a:t>
            </a:r>
            <a:r>
              <a:rPr sz="2200">
                <a:solidFill>
                  <a:srgbClr val="000000"/>
                </a:solidFill>
              </a:rPr>
              <a:t>  (chamesh-esre – f.)</a:t>
            </a:r>
          </a:p>
          <a:p>
            <a:pPr algn="ctr"/>
            <a:r>
              <a:rPr sz="4000">
                <a:solidFill>
                  <a:srgbClr val="000000"/>
                </a:solidFill>
              </a:rPr>
              <a:t>חֲמִשָּׁה עָשָׂר</a:t>
            </a:r>
            <a:r>
              <a:rPr sz="2200">
                <a:solidFill>
                  <a:srgbClr val="000000"/>
                </a:solidFill>
              </a:rPr>
              <a:t>  (chamisha-asar – m.)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B7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11480"/>
            <a:ext cx="73152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0" b="1">
                <a:solidFill>
                  <a:srgbClr val="000000"/>
                </a:solidFill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31720"/>
            <a:ext cx="8229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</a:rPr>
              <a:t>Seize</a:t>
            </a:r>
          </a:p>
          <a:p>
            <a:pPr algn="ctr"/>
            <a:r>
              <a:rPr sz="4000">
                <a:solidFill>
                  <a:srgbClr val="000000"/>
                </a:solidFill>
              </a:rPr>
              <a:t>Sixteen</a:t>
            </a:r>
          </a:p>
          <a:p>
            <a:pPr algn="ctr"/>
            <a:r>
              <a:rPr sz="4000">
                <a:solidFill>
                  <a:srgbClr val="000000"/>
                </a:solidFill>
              </a:rPr>
              <a:t>שֵׁשׁ עֶשְׂרֵה</a:t>
            </a:r>
            <a:r>
              <a:rPr sz="2200">
                <a:solidFill>
                  <a:srgbClr val="000000"/>
                </a:solidFill>
              </a:rPr>
              <a:t>  (shesh-esre – f.)</a:t>
            </a:r>
          </a:p>
          <a:p>
            <a:pPr algn="ctr"/>
            <a:r>
              <a:rPr sz="4000">
                <a:solidFill>
                  <a:srgbClr val="000000"/>
                </a:solidFill>
              </a:rPr>
              <a:t>שִׁשָּׁה עָשָׂר</a:t>
            </a:r>
            <a:r>
              <a:rPr sz="2200">
                <a:solidFill>
                  <a:srgbClr val="000000"/>
                </a:solidFill>
              </a:rPr>
              <a:t>  (shisha-asar – m.)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9D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11480"/>
            <a:ext cx="73152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0" b="1">
                <a:solidFill>
                  <a:srgbClr val="FFFFFF"/>
                </a:solidFill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31720"/>
            <a:ext cx="8229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Dix-sept</a:t>
            </a:r>
          </a:p>
          <a:p>
            <a:pPr algn="ctr"/>
            <a:r>
              <a:rPr sz="4000">
                <a:solidFill>
                  <a:srgbClr val="FFFFFF"/>
                </a:solidFill>
              </a:rPr>
              <a:t>Seventeen</a:t>
            </a:r>
          </a:p>
          <a:p>
            <a:pPr algn="ctr"/>
            <a:r>
              <a:rPr sz="4000">
                <a:solidFill>
                  <a:srgbClr val="FFFFFF"/>
                </a:solidFill>
              </a:rPr>
              <a:t>שְׁבַע עֶשְׂרֵה</a:t>
            </a:r>
            <a:r>
              <a:rPr sz="2200">
                <a:solidFill>
                  <a:srgbClr val="FFFFFF"/>
                </a:solidFill>
              </a:rPr>
              <a:t>  (shva-esre – f.)</a:t>
            </a:r>
          </a:p>
          <a:p>
            <a:pPr algn="ctr"/>
            <a:r>
              <a:rPr sz="4000">
                <a:solidFill>
                  <a:srgbClr val="FFFFFF"/>
                </a:solidFill>
              </a:rPr>
              <a:t>שִׁבְעָה עָשָׂר</a:t>
            </a:r>
            <a:r>
              <a:rPr sz="2200">
                <a:solidFill>
                  <a:srgbClr val="FFFFFF"/>
                </a:solidFill>
              </a:rPr>
              <a:t>  (shiv'a-asar – m.)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83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11480"/>
            <a:ext cx="73152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0" b="1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31720"/>
            <a:ext cx="8229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Dix-huit</a:t>
            </a:r>
          </a:p>
          <a:p>
            <a:pPr algn="ctr"/>
            <a:r>
              <a:rPr sz="4000">
                <a:solidFill>
                  <a:srgbClr val="FFFFFF"/>
                </a:solidFill>
              </a:rPr>
              <a:t>Eighteen</a:t>
            </a:r>
          </a:p>
          <a:p>
            <a:pPr algn="ctr"/>
            <a:r>
              <a:rPr sz="4000">
                <a:solidFill>
                  <a:srgbClr val="FFFFFF"/>
                </a:solidFill>
              </a:rPr>
              <a:t>שְׁמוֹנֶה עֶשְׂרֵה</a:t>
            </a:r>
            <a:r>
              <a:rPr sz="2200">
                <a:solidFill>
                  <a:srgbClr val="FFFFFF"/>
                </a:solidFill>
              </a:rPr>
              <a:t>  (shmone-esre – f.)</a:t>
            </a:r>
          </a:p>
          <a:p>
            <a:pPr algn="ctr"/>
            <a:r>
              <a:rPr sz="4000">
                <a:solidFill>
                  <a:srgbClr val="FFFFFF"/>
                </a:solidFill>
              </a:rPr>
              <a:t>שְׁמוֹנָה עָשָׂר</a:t>
            </a:r>
            <a:r>
              <a:rPr sz="2200">
                <a:solidFill>
                  <a:srgbClr val="FFFFFF"/>
                </a:solidFill>
              </a:rPr>
              <a:t>  (shmona-asar – m.)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69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11480"/>
            <a:ext cx="73152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0" b="1">
                <a:solidFill>
                  <a:srgbClr val="FFFFFF"/>
                </a:solidFill>
              </a:rP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31720"/>
            <a:ext cx="8229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Dix-neuf</a:t>
            </a:r>
          </a:p>
          <a:p>
            <a:pPr algn="ctr"/>
            <a:r>
              <a:rPr sz="4000">
                <a:solidFill>
                  <a:srgbClr val="FFFFFF"/>
                </a:solidFill>
              </a:rPr>
              <a:t>Nineteen</a:t>
            </a:r>
          </a:p>
          <a:p>
            <a:pPr algn="ctr"/>
            <a:r>
              <a:rPr sz="4000">
                <a:solidFill>
                  <a:srgbClr val="FFFFFF"/>
                </a:solidFill>
              </a:rPr>
              <a:t>תְּשַׁע עֶשְׂרֵה</a:t>
            </a:r>
            <a:r>
              <a:rPr sz="2200">
                <a:solidFill>
                  <a:srgbClr val="FFFFFF"/>
                </a:solidFill>
              </a:rPr>
              <a:t>  (tsha-esre – f.)</a:t>
            </a:r>
          </a:p>
          <a:p>
            <a:pPr algn="ctr"/>
            <a:r>
              <a:rPr sz="4000">
                <a:solidFill>
                  <a:srgbClr val="FFFFFF"/>
                </a:solidFill>
              </a:rPr>
              <a:t>תִּשְׁעָה עָשָׂר</a:t>
            </a:r>
            <a:r>
              <a:rPr sz="2200">
                <a:solidFill>
                  <a:srgbClr val="FFFFFF"/>
                </a:solidFill>
              </a:rPr>
              <a:t>  (tish'a-asar – m.)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4F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11480"/>
            <a:ext cx="73152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0" b="1">
                <a:solidFill>
                  <a:srgbClr val="FFFFFF"/>
                </a:solidFill>
              </a:rP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31720"/>
            <a:ext cx="8229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Vingt</a:t>
            </a:r>
          </a:p>
          <a:p>
            <a:pPr algn="ctr"/>
            <a:r>
              <a:rPr sz="4000">
                <a:solidFill>
                  <a:srgbClr val="FFFFFF"/>
                </a:solidFill>
              </a:rPr>
              <a:t>Twenty</a:t>
            </a:r>
          </a:p>
          <a:p>
            <a:pPr algn="ctr"/>
            <a:r>
              <a:rPr sz="4000">
                <a:solidFill>
                  <a:srgbClr val="FFFFFF"/>
                </a:solidFill>
              </a:rPr>
              <a:t>עֶשְׂרִים</a:t>
            </a:r>
            <a:r>
              <a:rPr sz="2200">
                <a:solidFill>
                  <a:srgbClr val="FFFFFF"/>
                </a:solidFill>
              </a:rPr>
              <a:t>  (esrim)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94F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11480"/>
            <a:ext cx="73152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0" b="1">
                <a:solidFill>
                  <a:srgbClr val="FFFFFF"/>
                </a:solidFill>
              </a:rPr>
              <a:t>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31720"/>
            <a:ext cx="8229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Trente</a:t>
            </a:r>
          </a:p>
          <a:p>
            <a:pPr algn="ctr"/>
            <a:r>
              <a:rPr sz="4000">
                <a:solidFill>
                  <a:srgbClr val="FFFFFF"/>
                </a:solidFill>
              </a:rPr>
              <a:t>Thirty</a:t>
            </a:r>
          </a:p>
          <a:p>
            <a:pPr algn="ctr"/>
            <a:r>
              <a:rPr sz="4000">
                <a:solidFill>
                  <a:srgbClr val="FFFFFF"/>
                </a:solidFill>
              </a:rPr>
              <a:t>שְׁלוֹשִׁים</a:t>
            </a:r>
            <a:r>
              <a:rPr sz="2200">
                <a:solidFill>
                  <a:srgbClr val="FFFFFF"/>
                </a:solidFill>
              </a:rPr>
              <a:t>  (shloshim)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34F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11480"/>
            <a:ext cx="73152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0" b="1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31720"/>
            <a:ext cx="8229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Quarante</a:t>
            </a:r>
          </a:p>
          <a:p>
            <a:pPr algn="ctr"/>
            <a:r>
              <a:rPr sz="4000">
                <a:solidFill>
                  <a:srgbClr val="FFFFFF"/>
                </a:solidFill>
              </a:rPr>
              <a:t>Forty</a:t>
            </a:r>
          </a:p>
          <a:p>
            <a:pPr algn="ctr"/>
            <a:r>
              <a:rPr sz="4000">
                <a:solidFill>
                  <a:srgbClr val="FFFFFF"/>
                </a:solidFill>
              </a:rPr>
              <a:t>אַרְבָּעִים</a:t>
            </a:r>
            <a:r>
              <a:rPr sz="2200">
                <a:solidFill>
                  <a:srgbClr val="FFFFFF"/>
                </a:solidFill>
              </a:rPr>
              <a:t>  (arba'im)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D4F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11480"/>
            <a:ext cx="73152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0" b="1">
                <a:solidFill>
                  <a:srgbClr val="FFFFFF"/>
                </a:solidFill>
              </a:rPr>
              <a:t>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31720"/>
            <a:ext cx="8229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Cinquante</a:t>
            </a:r>
          </a:p>
          <a:p>
            <a:pPr algn="ctr"/>
            <a:r>
              <a:rPr sz="4000">
                <a:solidFill>
                  <a:srgbClr val="FFFFFF"/>
                </a:solidFill>
              </a:rPr>
              <a:t>Fifty</a:t>
            </a:r>
          </a:p>
          <a:p>
            <a:pPr algn="ctr"/>
            <a:r>
              <a:rPr sz="4000">
                <a:solidFill>
                  <a:srgbClr val="FFFFFF"/>
                </a:solidFill>
              </a:rPr>
              <a:t>חֲמִשִּׁים</a:t>
            </a:r>
            <a:r>
              <a:rPr sz="2200">
                <a:solidFill>
                  <a:srgbClr val="FFFFFF"/>
                </a:solidFill>
              </a:rPr>
              <a:t>  (chamishim)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4F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11480"/>
            <a:ext cx="73152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0" b="1">
                <a:solidFill>
                  <a:srgbClr val="FFFFFF"/>
                </a:solidFill>
              </a:rPr>
              <a:t>60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31720"/>
            <a:ext cx="8229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Soixante</a:t>
            </a:r>
          </a:p>
          <a:p>
            <a:pPr algn="ctr"/>
            <a:r>
              <a:rPr sz="4000">
                <a:solidFill>
                  <a:srgbClr val="FFFFFF"/>
                </a:solidFill>
              </a:rPr>
              <a:t>Sixty</a:t>
            </a:r>
          </a:p>
          <a:p>
            <a:pPr algn="ctr"/>
            <a:r>
              <a:rPr sz="4000">
                <a:solidFill>
                  <a:srgbClr val="FFFFFF"/>
                </a:solidFill>
              </a:rPr>
              <a:t>שִׁשִּׁים</a:t>
            </a:r>
            <a:r>
              <a:rPr sz="2200">
                <a:solidFill>
                  <a:srgbClr val="FFFFFF"/>
                </a:solidFill>
              </a:rPr>
              <a:t>  (shishim)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4F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11480"/>
            <a:ext cx="73152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0" b="1">
                <a:solidFill>
                  <a:srgbClr val="FFFFFF"/>
                </a:solidFill>
              </a:rPr>
              <a:t>70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31720"/>
            <a:ext cx="8229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Soixante-dix</a:t>
            </a:r>
          </a:p>
          <a:p>
            <a:pPr algn="ctr"/>
            <a:r>
              <a:rPr sz="4000">
                <a:solidFill>
                  <a:srgbClr val="FFFFFF"/>
                </a:solidFill>
              </a:rPr>
              <a:t>Seventy</a:t>
            </a:r>
          </a:p>
          <a:p>
            <a:pPr algn="ctr"/>
            <a:r>
              <a:rPr sz="4000">
                <a:solidFill>
                  <a:srgbClr val="FFFFFF"/>
                </a:solidFill>
              </a:rPr>
              <a:t>שִׁבְעִים</a:t>
            </a:r>
            <a:r>
              <a:rPr sz="2200">
                <a:solidFill>
                  <a:srgbClr val="FFFFFF"/>
                </a:solidFill>
              </a:rPr>
              <a:t>  (shiv'im)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4F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11480"/>
            <a:ext cx="73152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0" b="1">
                <a:solidFill>
                  <a:srgbClr val="FFFFFF"/>
                </a:solidFill>
              </a:rPr>
              <a:t>80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31720"/>
            <a:ext cx="8229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Quatre-vingts</a:t>
            </a:r>
          </a:p>
          <a:p>
            <a:pPr algn="ctr"/>
            <a:r>
              <a:rPr sz="4000">
                <a:solidFill>
                  <a:srgbClr val="FFFFFF"/>
                </a:solidFill>
              </a:rPr>
              <a:t>Eighty</a:t>
            </a:r>
          </a:p>
          <a:p>
            <a:pPr algn="ctr"/>
            <a:r>
              <a:rPr sz="4000">
                <a:solidFill>
                  <a:srgbClr val="FFFFFF"/>
                </a:solidFill>
              </a:rPr>
              <a:t>שְׁמוֹנִים</a:t>
            </a:r>
            <a:r>
              <a:rPr sz="2200">
                <a:solidFill>
                  <a:srgbClr val="FFFFFF"/>
                </a:solidFill>
              </a:rPr>
              <a:t>  (shmonim)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4F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11480"/>
            <a:ext cx="73152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0" b="1">
                <a:solidFill>
                  <a:srgbClr val="FFFFFF"/>
                </a:solidFill>
              </a:rPr>
              <a:t>90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31720"/>
            <a:ext cx="8229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Quatre-vingt-dix</a:t>
            </a:r>
          </a:p>
          <a:p>
            <a:pPr algn="ctr"/>
            <a:r>
              <a:rPr sz="4000">
                <a:solidFill>
                  <a:srgbClr val="FFFFFF"/>
                </a:solidFill>
              </a:rPr>
              <a:t>Ninety</a:t>
            </a:r>
          </a:p>
          <a:p>
            <a:pPr algn="ctr"/>
            <a:r>
              <a:rPr sz="4000">
                <a:solidFill>
                  <a:srgbClr val="FFFFFF"/>
                </a:solidFill>
              </a:rPr>
              <a:t>תִּשְׁעִים</a:t>
            </a:r>
            <a:r>
              <a:rPr sz="2200">
                <a:solidFill>
                  <a:srgbClr val="FFFFFF"/>
                </a:solidFill>
              </a:rPr>
              <a:t>  (tish'im)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4F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11480"/>
            <a:ext cx="73152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0" b="1">
                <a:solidFill>
                  <a:srgbClr val="FFFFFF"/>
                </a:solidFill>
              </a:rPr>
              <a:t>100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31720"/>
            <a:ext cx="8229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Cent</a:t>
            </a:r>
          </a:p>
          <a:p>
            <a:pPr algn="ctr"/>
            <a:r>
              <a:rPr sz="4000">
                <a:solidFill>
                  <a:srgbClr val="FFFFFF"/>
                </a:solidFill>
              </a:rPr>
              <a:t>One hundred</a:t>
            </a:r>
          </a:p>
          <a:p>
            <a:pPr algn="ctr"/>
            <a:r>
              <a:rPr sz="4000">
                <a:solidFill>
                  <a:srgbClr val="FFFFFF"/>
                </a:solidFill>
              </a:rPr>
              <a:t>מֵאָה</a:t>
            </a:r>
            <a:r>
              <a:rPr sz="2200">
                <a:solidFill>
                  <a:srgbClr val="FFFFFF"/>
                </a:solidFill>
              </a:rPr>
              <a:t>  (me'a)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4F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11480"/>
            <a:ext cx="73152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0" b="1">
                <a:solidFill>
                  <a:srgbClr val="FFFFFF"/>
                </a:solidFill>
              </a:rPr>
              <a:t>1000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31720"/>
            <a:ext cx="8229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Mille</a:t>
            </a:r>
          </a:p>
          <a:p>
            <a:pPr algn="ctr"/>
            <a:r>
              <a:rPr sz="4000">
                <a:solidFill>
                  <a:srgbClr val="FFFFFF"/>
                </a:solidFill>
              </a:rPr>
              <a:t>One thousand</a:t>
            </a:r>
          </a:p>
          <a:p>
            <a:pPr algn="ctr"/>
            <a:r>
              <a:rPr sz="4000">
                <a:solidFill>
                  <a:srgbClr val="FFFFFF"/>
                </a:solidFill>
              </a:rPr>
              <a:t>אֶלֶף</a:t>
            </a:r>
            <a:r>
              <a:rPr sz="2200">
                <a:solidFill>
                  <a:srgbClr val="FFFFFF"/>
                </a:solidFill>
              </a:rPr>
              <a:t>  (elef)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383</Words>
  <Application>Microsoft Macintosh PowerPoint</Application>
  <PresentationFormat>Affichage à l'écran (4:3)</PresentationFormat>
  <Paragraphs>140</Paragraphs>
  <Slides>31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35" baseType="lpstr">
      <vt:lpstr>Aptos Display</vt:lpstr>
      <vt:lpstr>Arial</vt:lpstr>
      <vt:lpstr>Calibri</vt:lpstr>
      <vt:lpstr>Office Theme</vt:lpstr>
      <vt:lpstr>Chiffres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ELENA HAGEGE HERCOT</cp:lastModifiedBy>
  <cp:revision>4</cp:revision>
  <dcterms:created xsi:type="dcterms:W3CDTF">2013-01-27T09:14:16Z</dcterms:created>
  <dcterms:modified xsi:type="dcterms:W3CDTF">2026-06-15T09:25:08Z</dcterms:modified>
  <cp:category/>
</cp:coreProperties>
</file>