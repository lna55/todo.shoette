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84" r:id="rId2"/>
    <p:sldId id="285" r:id="rId3"/>
    <p:sldId id="286" r:id="rId4"/>
    <p:sldId id="287" r:id="rId5"/>
    <p:sldId id="288" r:id="rId6"/>
    <p:sldId id="289" r:id="rId7"/>
    <p:sldId id="290" r:id="rId8"/>
    <p:sldId id="291" r:id="rId9"/>
    <p:sldId id="292" r:id="rId10"/>
    <p:sldId id="293" r:id="rId11"/>
    <p:sldId id="294" r:id="rId12"/>
    <p:sldId id="295" r:id="rId13"/>
    <p:sldId id="296" r:id="rId14"/>
    <p:sldId id="297" r:id="rId15"/>
    <p:sldId id="298" r:id="rId16"/>
    <p:sldId id="299" r:id="rId17"/>
    <p:sldId id="300" r:id="rId18"/>
    <p:sldId id="301" r:id="rId19"/>
    <p:sldId id="302" r:id="rId20"/>
    <p:sldId id="303" r:id="rId21"/>
    <p:sldId id="304" r:id="rId22"/>
    <p:sldId id="305" r:id="rId23"/>
    <p:sldId id="306" r:id="rId24"/>
    <p:sldId id="307" r:id="rId25"/>
    <p:sldId id="308" r:id="rId26"/>
    <p:sldId id="309" r:id="rId27"/>
    <p:sldId id="310" r:id="rId2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4BBE72"/>
    <a:srgbClr val="42A764"/>
    <a:srgbClr val="0A0C3A"/>
    <a:srgbClr val="0A0B35"/>
    <a:srgbClr val="14155E"/>
    <a:srgbClr val="BD9D34"/>
    <a:srgbClr val="949B82"/>
    <a:srgbClr val="979B74"/>
    <a:srgbClr val="9D8F76"/>
    <a:srgbClr val="F8967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7022"/>
    <p:restoredTop sz="94726"/>
  </p:normalViewPr>
  <p:slideViewPr>
    <p:cSldViewPr snapToGrid="0" snapToObjects="1">
      <p:cViewPr varScale="1">
        <p:scale>
          <a:sx n="116" d="100"/>
          <a:sy n="116" d="100"/>
        </p:scale>
        <p:origin x="1240" y="17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6/18/26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6/18/26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6/18/26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6/18/26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6/18/26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6/18/26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6/18/26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2BCA1E23-E3D2-0858-5FFB-DB6E5B8BD1F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65760" y="1699022"/>
            <a:ext cx="8412480" cy="2587228"/>
          </a:xfrm>
        </p:spPr>
        <p:txBody>
          <a:bodyPr>
            <a:normAutofit/>
          </a:bodyPr>
          <a:lstStyle/>
          <a:p>
            <a:r>
              <a:rPr sz="6000" b="1">
                <a:solidFill>
                  <a:srgbClr val="D14F4F"/>
                </a:solidFill>
                <a:latin typeface="Aptos Display"/>
              </a:rPr>
              <a:t>C</a:t>
            </a:r>
            <a:r>
              <a:rPr sz="6000" b="1">
                <a:solidFill>
                  <a:srgbClr val="D1964F"/>
                </a:solidFill>
                <a:latin typeface="Aptos Display"/>
              </a:rPr>
              <a:t>o</a:t>
            </a:r>
            <a:r>
              <a:rPr sz="6000" b="1">
                <a:solidFill>
                  <a:srgbClr val="C5D14F"/>
                </a:solidFill>
                <a:latin typeface="Aptos Display"/>
              </a:rPr>
              <a:t>n</a:t>
            </a:r>
            <a:r>
              <a:rPr sz="6000" b="1">
                <a:solidFill>
                  <a:srgbClr val="7ED14F"/>
                </a:solidFill>
                <a:latin typeface="Aptos Display"/>
              </a:rPr>
              <a:t>n</a:t>
            </a:r>
            <a:r>
              <a:rPr sz="6000" b="1">
                <a:solidFill>
                  <a:srgbClr val="4FD167"/>
                </a:solidFill>
                <a:latin typeface="Aptos Display"/>
              </a:rPr>
              <a:t>e</a:t>
            </a:r>
            <a:r>
              <a:rPr sz="6000" b="1">
                <a:solidFill>
                  <a:srgbClr val="4FD1AD"/>
                </a:solidFill>
                <a:latin typeface="Aptos Display"/>
              </a:rPr>
              <a:t>c</a:t>
            </a:r>
            <a:r>
              <a:rPr sz="6000" b="1">
                <a:solidFill>
                  <a:srgbClr val="4FADD1"/>
                </a:solidFill>
                <a:latin typeface="Aptos Display"/>
              </a:rPr>
              <a:t>t</a:t>
            </a:r>
            <a:r>
              <a:rPr sz="6000" b="1">
                <a:solidFill>
                  <a:srgbClr val="4F67D1"/>
                </a:solidFill>
                <a:latin typeface="Aptos Display"/>
              </a:rPr>
              <a:t>e</a:t>
            </a:r>
            <a:r>
              <a:rPr sz="6000" b="1">
                <a:solidFill>
                  <a:srgbClr val="7E4FD1"/>
                </a:solidFill>
                <a:latin typeface="Aptos Display"/>
              </a:rPr>
              <a:t>u</a:t>
            </a:r>
            <a:r>
              <a:rPr sz="6000" b="1">
                <a:solidFill>
                  <a:srgbClr val="C54FD1"/>
                </a:solidFill>
                <a:latin typeface="Aptos Display"/>
              </a:rPr>
              <a:t>r</a:t>
            </a:r>
            <a:r>
              <a:rPr sz="6000" b="1">
                <a:solidFill>
                  <a:srgbClr val="D14F96"/>
                </a:solidFill>
                <a:latin typeface="Aptos Display"/>
              </a:rPr>
              <a:t>s</a:t>
            </a:r>
            <a:endParaRPr lang="en-US" sz="12000" b="1" dirty="0">
              <a:solidFill>
                <a:srgbClr val="F3F211"/>
              </a:solidFill>
            </a:endParaRPr>
          </a:p>
          <a:p>
            <a:pPr algn="ctr"/>
            <a:r>
              <a:rPr sz="2800" i="1">
                <a:solidFill>
                  <a:srgbClr val="5A5A5A"/>
                </a:solidFill>
              </a:rPr>
              <a:t>Mais · où · et · donc · or · ni · car</a:t>
            </a:r>
          </a:p>
        </p:txBody>
      </p:sp>
    </p:spTree>
    <p:extLst>
      <p:ext uri="{BB962C8B-B14F-4D97-AF65-F5344CB8AC3E}">
        <p14:creationId xmlns:p14="http://schemas.microsoft.com/office/powerpoint/2010/main" val="143794369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14F4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2004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</a:rPr>
              <a:t>COORDINATION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43000"/>
            <a:ext cx="841248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0" b="1">
                <a:solidFill>
                  <a:srgbClr val="FFFFFF"/>
                </a:solidFill>
              </a:rPr>
              <a:t>Et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200400"/>
            <a:ext cx="822960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>
                <a:solidFill>
                  <a:srgbClr val="FFFFFF"/>
                </a:solidFill>
              </a:rPr>
              <a:t>and</a:t>
            </a:r>
          </a:p>
          <a:p>
            <a:pPr algn="ctr"/>
            <a:r>
              <a:rPr sz="4000">
                <a:solidFill>
                  <a:srgbClr val="FFFFFF"/>
                </a:solidFill>
              </a:rPr>
              <a:t>וְ</a:t>
            </a:r>
            <a:r>
              <a:rPr sz="2200">
                <a:solidFill>
                  <a:srgbClr val="FFFFFF"/>
                </a:solidFill>
              </a:rPr>
              <a:t>  (ve)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16D4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2004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</a:rPr>
              <a:t>COORDINATION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43000"/>
            <a:ext cx="841248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0" b="1">
                <a:solidFill>
                  <a:srgbClr val="FFFFFF"/>
                </a:solidFill>
              </a:rPr>
              <a:t>Ou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200400"/>
            <a:ext cx="822960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>
                <a:solidFill>
                  <a:srgbClr val="FFFFFF"/>
                </a:solidFill>
              </a:rPr>
              <a:t>or</a:t>
            </a:r>
          </a:p>
          <a:p>
            <a:pPr algn="ctr"/>
            <a:r>
              <a:rPr sz="4000">
                <a:solidFill>
                  <a:srgbClr val="FFFFFF"/>
                </a:solidFill>
              </a:rPr>
              <a:t>אוֹ</a:t>
            </a:r>
            <a:r>
              <a:rPr sz="2200">
                <a:solidFill>
                  <a:srgbClr val="FFFFFF"/>
                </a:solidFill>
              </a:rPr>
              <a:t>  (o)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18B4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2004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</a:rPr>
              <a:t>COORDINATION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43000"/>
            <a:ext cx="841248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800" b="1">
                <a:solidFill>
                  <a:srgbClr val="FFFFFF"/>
                </a:solidFill>
              </a:rPr>
              <a:t>Mais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200400"/>
            <a:ext cx="822960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>
                <a:solidFill>
                  <a:srgbClr val="FFFFFF"/>
                </a:solidFill>
              </a:rPr>
              <a:t>but</a:t>
            </a:r>
          </a:p>
          <a:p>
            <a:pPr algn="ctr"/>
            <a:r>
              <a:rPr sz="4000">
                <a:solidFill>
                  <a:srgbClr val="FFFFFF"/>
                </a:solidFill>
              </a:rPr>
              <a:t>אֲבָל</a:t>
            </a:r>
            <a:r>
              <a:rPr sz="2200">
                <a:solidFill>
                  <a:srgbClr val="FFFFFF"/>
                </a:solidFill>
              </a:rPr>
              <a:t>  (aval)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1A94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2004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600" b="1">
                <a:solidFill>
                  <a:srgbClr val="000000"/>
                </a:solidFill>
              </a:rPr>
              <a:t>COORDINATION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43000"/>
            <a:ext cx="841248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800" b="1">
                <a:solidFill>
                  <a:srgbClr val="000000"/>
                </a:solidFill>
              </a:rPr>
              <a:t>Donc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200400"/>
            <a:ext cx="822960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>
                <a:solidFill>
                  <a:srgbClr val="000000"/>
                </a:solidFill>
              </a:rPr>
              <a:t>so, therefore</a:t>
            </a:r>
          </a:p>
          <a:p>
            <a:pPr algn="ctr"/>
            <a:r>
              <a:rPr sz="4000">
                <a:solidFill>
                  <a:srgbClr val="000000"/>
                </a:solidFill>
              </a:rPr>
              <a:t>לָכֵן</a:t>
            </a:r>
            <a:r>
              <a:rPr sz="2200">
                <a:solidFill>
                  <a:srgbClr val="000000"/>
                </a:solidFill>
              </a:rPr>
              <a:t>  (lakhen)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1C74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2004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600" b="1">
                <a:solidFill>
                  <a:srgbClr val="000000"/>
                </a:solidFill>
              </a:rPr>
              <a:t>COORDINATION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43000"/>
            <a:ext cx="841248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0" b="1">
                <a:solidFill>
                  <a:srgbClr val="000000"/>
                </a:solidFill>
              </a:rPr>
              <a:t>Or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200400"/>
            <a:ext cx="822960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>
                <a:solidFill>
                  <a:srgbClr val="000000"/>
                </a:solidFill>
              </a:rPr>
              <a:t>now, yet</a:t>
            </a:r>
          </a:p>
          <a:p>
            <a:pPr algn="ctr"/>
            <a:r>
              <a:rPr sz="4000">
                <a:solidFill>
                  <a:srgbClr val="000000"/>
                </a:solidFill>
              </a:rPr>
              <a:t>אוּלָם</a:t>
            </a:r>
            <a:r>
              <a:rPr sz="2200">
                <a:solidFill>
                  <a:srgbClr val="000000"/>
                </a:solidFill>
              </a:rPr>
              <a:t>  (ulam)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BDD14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2004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600" b="1">
                <a:solidFill>
                  <a:srgbClr val="000000"/>
                </a:solidFill>
              </a:rPr>
              <a:t>COORDINATION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43000"/>
            <a:ext cx="841248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0" b="1">
                <a:solidFill>
                  <a:srgbClr val="000000"/>
                </a:solidFill>
              </a:rPr>
              <a:t>Ni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200400"/>
            <a:ext cx="822960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>
                <a:solidFill>
                  <a:srgbClr val="000000"/>
                </a:solidFill>
              </a:rPr>
              <a:t>nor</a:t>
            </a:r>
          </a:p>
          <a:p>
            <a:pPr algn="ctr"/>
            <a:r>
              <a:rPr sz="4000">
                <a:solidFill>
                  <a:srgbClr val="000000"/>
                </a:solidFill>
              </a:rPr>
              <a:t>וְלֹא</a:t>
            </a:r>
            <a:r>
              <a:rPr sz="2200">
                <a:solidFill>
                  <a:srgbClr val="000000"/>
                </a:solidFill>
              </a:rPr>
              <a:t>  (ve-lo)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9FD14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2004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600" b="1">
                <a:solidFill>
                  <a:srgbClr val="000000"/>
                </a:solidFill>
              </a:rPr>
              <a:t>COORDINATION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43000"/>
            <a:ext cx="841248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0" b="1">
                <a:solidFill>
                  <a:srgbClr val="000000"/>
                </a:solidFill>
              </a:rPr>
              <a:t>Car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200400"/>
            <a:ext cx="822960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>
                <a:solidFill>
                  <a:srgbClr val="000000"/>
                </a:solidFill>
              </a:rPr>
              <a:t>for, because</a:t>
            </a:r>
          </a:p>
          <a:p>
            <a:pPr algn="ctr"/>
            <a:r>
              <a:rPr sz="4000">
                <a:solidFill>
                  <a:srgbClr val="000000"/>
                </a:solidFill>
              </a:rPr>
              <a:t>כִּי</a:t>
            </a:r>
            <a:r>
              <a:rPr sz="2200">
                <a:solidFill>
                  <a:srgbClr val="000000"/>
                </a:solidFill>
              </a:rPr>
              <a:t>  (ki)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81D14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2004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600" b="1">
                <a:solidFill>
                  <a:srgbClr val="000000"/>
                </a:solidFill>
              </a:rPr>
              <a:t>ADDITION / ORDRE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43000"/>
            <a:ext cx="841248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800" b="1">
                <a:solidFill>
                  <a:srgbClr val="000000"/>
                </a:solidFill>
              </a:rPr>
              <a:t>Puis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200400"/>
            <a:ext cx="822960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>
                <a:solidFill>
                  <a:srgbClr val="000000"/>
                </a:solidFill>
              </a:rPr>
              <a:t>then</a:t>
            </a:r>
          </a:p>
          <a:p>
            <a:pPr algn="ctr"/>
            <a:r>
              <a:rPr sz="4000">
                <a:solidFill>
                  <a:srgbClr val="000000"/>
                </a:solidFill>
              </a:rPr>
              <a:t>אַחַר כָּךְ</a:t>
            </a:r>
            <a:r>
              <a:rPr sz="2200">
                <a:solidFill>
                  <a:srgbClr val="000000"/>
                </a:solidFill>
              </a:rPr>
              <a:t>  (achar kakh)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63D14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2004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600" b="1">
                <a:solidFill>
                  <a:srgbClr val="000000"/>
                </a:solidFill>
              </a:rPr>
              <a:t>ADDITION / ORDRE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43000"/>
            <a:ext cx="841248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200" b="1">
                <a:solidFill>
                  <a:srgbClr val="000000"/>
                </a:solidFill>
              </a:rPr>
              <a:t>Ensuite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200400"/>
            <a:ext cx="822960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>
                <a:solidFill>
                  <a:srgbClr val="000000"/>
                </a:solidFill>
              </a:rPr>
              <a:t>next, afterwards</a:t>
            </a:r>
          </a:p>
          <a:p>
            <a:pPr algn="ctr"/>
            <a:r>
              <a:rPr sz="4000">
                <a:solidFill>
                  <a:srgbClr val="000000"/>
                </a:solidFill>
              </a:rPr>
              <a:t>לְאַחַר מִכֵּן</a:t>
            </a:r>
            <a:r>
              <a:rPr sz="2200">
                <a:solidFill>
                  <a:srgbClr val="000000"/>
                </a:solidFill>
              </a:rPr>
              <a:t>  (le'achar miken)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4FD15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2004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600" b="1">
                <a:solidFill>
                  <a:srgbClr val="000000"/>
                </a:solidFill>
              </a:rPr>
              <a:t>ADDITION / ORDRE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43000"/>
            <a:ext cx="841248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200" b="1">
                <a:solidFill>
                  <a:srgbClr val="000000"/>
                </a:solidFill>
              </a:rPr>
              <a:t>D'abord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200400"/>
            <a:ext cx="822960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>
                <a:solidFill>
                  <a:srgbClr val="000000"/>
                </a:solidFill>
              </a:rPr>
              <a:t>first of all</a:t>
            </a:r>
          </a:p>
          <a:p>
            <a:pPr algn="ctr"/>
            <a:r>
              <a:rPr sz="4000">
                <a:solidFill>
                  <a:srgbClr val="000000"/>
                </a:solidFill>
              </a:rPr>
              <a:t>קוֹדֶם כֹּל</a:t>
            </a:r>
            <a:r>
              <a:rPr sz="2200">
                <a:solidFill>
                  <a:srgbClr val="000000"/>
                </a:solidFill>
              </a:rPr>
              <a:t>  (kodem kol)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4FD17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2004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600" b="1">
                <a:solidFill>
                  <a:srgbClr val="000000"/>
                </a:solidFill>
              </a:rPr>
              <a:t>ADDITION / ORDRE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43000"/>
            <a:ext cx="841248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800" b="1">
                <a:solidFill>
                  <a:srgbClr val="000000"/>
                </a:solidFill>
              </a:rPr>
              <a:t>Enfin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200400"/>
            <a:ext cx="822960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>
                <a:solidFill>
                  <a:srgbClr val="000000"/>
                </a:solidFill>
              </a:rPr>
              <a:t>finally, at last</a:t>
            </a:r>
          </a:p>
          <a:p>
            <a:pPr algn="ctr"/>
            <a:r>
              <a:rPr sz="4000">
                <a:solidFill>
                  <a:srgbClr val="000000"/>
                </a:solidFill>
              </a:rPr>
              <a:t>לְבַסּוֹף</a:t>
            </a:r>
            <a:r>
              <a:rPr sz="2200">
                <a:solidFill>
                  <a:srgbClr val="000000"/>
                </a:solidFill>
              </a:rPr>
              <a:t>  (levasof)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4FD19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2004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600" b="1">
                <a:solidFill>
                  <a:srgbClr val="000000"/>
                </a:solidFill>
              </a:rPr>
              <a:t>ADDITION / ORDRE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43000"/>
            <a:ext cx="841248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800" b="1">
                <a:solidFill>
                  <a:srgbClr val="000000"/>
                </a:solidFill>
              </a:rPr>
              <a:t>Aussi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200400"/>
            <a:ext cx="822960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>
                <a:solidFill>
                  <a:srgbClr val="000000"/>
                </a:solidFill>
              </a:rPr>
              <a:t>also, too</a:t>
            </a:r>
          </a:p>
          <a:p>
            <a:pPr algn="ctr"/>
            <a:r>
              <a:rPr sz="4000">
                <a:solidFill>
                  <a:srgbClr val="000000"/>
                </a:solidFill>
              </a:rPr>
              <a:t>גַּם</a:t>
            </a:r>
            <a:r>
              <a:rPr sz="2200">
                <a:solidFill>
                  <a:srgbClr val="000000"/>
                </a:solidFill>
              </a:rPr>
              <a:t>  (gam)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4FD1B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2004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600" b="1">
                <a:solidFill>
                  <a:srgbClr val="000000"/>
                </a:solidFill>
              </a:rPr>
              <a:t>ADDITION / ORDRE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43000"/>
            <a:ext cx="841248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200" b="1">
                <a:solidFill>
                  <a:srgbClr val="000000"/>
                </a:solidFill>
              </a:rPr>
              <a:t>De plus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200400"/>
            <a:ext cx="822960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>
                <a:solidFill>
                  <a:srgbClr val="000000"/>
                </a:solidFill>
              </a:rPr>
              <a:t>moreover, in addition</a:t>
            </a:r>
          </a:p>
          <a:p>
            <a:pPr algn="ctr"/>
            <a:r>
              <a:rPr sz="4000">
                <a:solidFill>
                  <a:srgbClr val="000000"/>
                </a:solidFill>
              </a:rPr>
              <a:t>בְּנוֹסָף</a:t>
            </a:r>
            <a:r>
              <a:rPr sz="2200">
                <a:solidFill>
                  <a:srgbClr val="000000"/>
                </a:solidFill>
              </a:rPr>
              <a:t>  (benosaf)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4FD1D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2004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600" b="1">
                <a:solidFill>
                  <a:srgbClr val="000000"/>
                </a:solidFill>
              </a:rPr>
              <a:t>OPPOSITION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43000"/>
            <a:ext cx="841248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600" b="1">
                <a:solidFill>
                  <a:srgbClr val="000000"/>
                </a:solidFill>
              </a:rPr>
              <a:t>Cependant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200400"/>
            <a:ext cx="822960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>
                <a:solidFill>
                  <a:srgbClr val="000000"/>
                </a:solidFill>
              </a:rPr>
              <a:t>however</a:t>
            </a:r>
          </a:p>
          <a:p>
            <a:pPr algn="ctr"/>
            <a:r>
              <a:rPr sz="4000">
                <a:solidFill>
                  <a:srgbClr val="000000"/>
                </a:solidFill>
              </a:rPr>
              <a:t>עִם זֹאת</a:t>
            </a:r>
            <a:r>
              <a:rPr sz="2200">
                <a:solidFill>
                  <a:srgbClr val="000000"/>
                </a:solidFill>
              </a:rPr>
              <a:t>  (im zot)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4FB3D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2004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</a:rPr>
              <a:t>OPPOSITION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43000"/>
            <a:ext cx="841248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200" b="1">
                <a:solidFill>
                  <a:srgbClr val="FFFFFF"/>
                </a:solidFill>
              </a:rPr>
              <a:t>Pourtant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200400"/>
            <a:ext cx="822960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>
                <a:solidFill>
                  <a:srgbClr val="FFFFFF"/>
                </a:solidFill>
              </a:rPr>
              <a:t>yet, and yet</a:t>
            </a:r>
          </a:p>
          <a:p>
            <a:pPr algn="ctr"/>
            <a:r>
              <a:rPr sz="4000">
                <a:solidFill>
                  <a:srgbClr val="FFFFFF"/>
                </a:solidFill>
              </a:rPr>
              <a:t>וּבְכָל זֹאת</a:t>
            </a:r>
            <a:r>
              <a:rPr sz="2200">
                <a:solidFill>
                  <a:srgbClr val="FFFFFF"/>
                </a:solidFill>
              </a:rPr>
              <a:t>  (uvkhol zot)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4F95D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2004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</a:rPr>
              <a:t>OPPOSITION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43000"/>
            <a:ext cx="841248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600" b="1">
                <a:solidFill>
                  <a:srgbClr val="FFFFFF"/>
                </a:solidFill>
              </a:rPr>
              <a:t>Néanmoins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200400"/>
            <a:ext cx="822960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>
                <a:solidFill>
                  <a:srgbClr val="FFFFFF"/>
                </a:solidFill>
              </a:rPr>
              <a:t>nevertheless</a:t>
            </a:r>
          </a:p>
          <a:p>
            <a:pPr algn="ctr"/>
            <a:r>
              <a:rPr sz="4000">
                <a:solidFill>
                  <a:srgbClr val="FFFFFF"/>
                </a:solidFill>
              </a:rPr>
              <a:t>אַף עַל פִּי כֵן</a:t>
            </a:r>
            <a:r>
              <a:rPr sz="2200">
                <a:solidFill>
                  <a:srgbClr val="FFFFFF"/>
                </a:solidFill>
              </a:rPr>
              <a:t>  (af al pi khen)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4F77D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2004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</a:rPr>
              <a:t>OPPOSITION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43000"/>
            <a:ext cx="841248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600" b="1">
                <a:solidFill>
                  <a:srgbClr val="FFFFFF"/>
                </a:solidFill>
              </a:rPr>
              <a:t>Toutefois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200400"/>
            <a:ext cx="822960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>
                <a:solidFill>
                  <a:srgbClr val="FFFFFF"/>
                </a:solidFill>
              </a:rPr>
              <a:t>nonetheless</a:t>
            </a:r>
          </a:p>
          <a:p>
            <a:pPr algn="ctr"/>
            <a:r>
              <a:rPr sz="4000">
                <a:solidFill>
                  <a:srgbClr val="FFFFFF"/>
                </a:solidFill>
              </a:rPr>
              <a:t>עִם כָּל זֹאת</a:t>
            </a:r>
            <a:r>
              <a:rPr sz="2200">
                <a:solidFill>
                  <a:srgbClr val="FFFFFF"/>
                </a:solidFill>
              </a:rPr>
              <a:t>  (im kol zot)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4F59D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2004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</a:rPr>
              <a:t>OPPOSITION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43000"/>
            <a:ext cx="841248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600" b="1">
                <a:solidFill>
                  <a:srgbClr val="FFFFFF"/>
                </a:solidFill>
              </a:rPr>
              <a:t>En revanche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200400"/>
            <a:ext cx="822960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>
                <a:solidFill>
                  <a:srgbClr val="FFFFFF"/>
                </a:solidFill>
              </a:rPr>
              <a:t>on the other hand</a:t>
            </a:r>
          </a:p>
          <a:p>
            <a:pPr algn="ctr"/>
            <a:r>
              <a:rPr sz="4000">
                <a:solidFill>
                  <a:srgbClr val="FFFFFF"/>
                </a:solidFill>
              </a:rPr>
              <a:t>לְעֻמַּת זֹאת</a:t>
            </a:r>
            <a:r>
              <a:rPr sz="2200">
                <a:solidFill>
                  <a:srgbClr val="FFFFFF"/>
                </a:solidFill>
              </a:rPr>
              <a:t>  (le'umat zot)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634FD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2004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</a:rPr>
              <a:t>CONSÉQUENCE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43000"/>
            <a:ext cx="841248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800" b="1">
                <a:solidFill>
                  <a:srgbClr val="FFFFFF"/>
                </a:solidFill>
              </a:rPr>
              <a:t>Ainsi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200400"/>
            <a:ext cx="822960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>
                <a:solidFill>
                  <a:srgbClr val="FFFFFF"/>
                </a:solidFill>
              </a:rPr>
              <a:t>thus, so</a:t>
            </a:r>
          </a:p>
          <a:p>
            <a:pPr algn="ctr"/>
            <a:r>
              <a:rPr sz="4000">
                <a:solidFill>
                  <a:srgbClr val="FFFFFF"/>
                </a:solidFill>
              </a:rPr>
              <a:t>כָּךְ</a:t>
            </a:r>
            <a:r>
              <a:rPr sz="2200">
                <a:solidFill>
                  <a:srgbClr val="FFFFFF"/>
                </a:solidFill>
              </a:rPr>
              <a:t>  (kakh)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814FD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2004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</a:rPr>
              <a:t>CONSÉQUENCE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43000"/>
            <a:ext cx="841248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800" b="1">
                <a:solidFill>
                  <a:srgbClr val="FFFFFF"/>
                </a:solidFill>
              </a:rPr>
              <a:t>Alors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200400"/>
            <a:ext cx="822960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>
                <a:solidFill>
                  <a:srgbClr val="FFFFFF"/>
                </a:solidFill>
              </a:rPr>
              <a:t>so, then</a:t>
            </a:r>
          </a:p>
          <a:p>
            <a:pPr algn="ctr"/>
            <a:r>
              <a:rPr sz="4000">
                <a:solidFill>
                  <a:srgbClr val="FFFFFF"/>
                </a:solidFill>
              </a:rPr>
              <a:t>אָז</a:t>
            </a:r>
            <a:r>
              <a:rPr sz="2200">
                <a:solidFill>
                  <a:srgbClr val="FFFFFF"/>
                </a:solidFill>
              </a:rPr>
              <a:t>  (az)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9F4FD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2004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</a:rPr>
              <a:t>CONSÉQUENCE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43000"/>
            <a:ext cx="841248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600" b="1">
                <a:solidFill>
                  <a:srgbClr val="FFFFFF"/>
                </a:solidFill>
              </a:rPr>
              <a:t>Par conséquent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200400"/>
            <a:ext cx="822960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>
                <a:solidFill>
                  <a:srgbClr val="FFFFFF"/>
                </a:solidFill>
              </a:rPr>
              <a:t>consequently</a:t>
            </a:r>
          </a:p>
          <a:p>
            <a:pPr algn="ctr"/>
            <a:r>
              <a:rPr sz="4000">
                <a:solidFill>
                  <a:srgbClr val="FFFFFF"/>
                </a:solidFill>
              </a:rPr>
              <a:t>לְפִיכָךְ</a:t>
            </a:r>
            <a:r>
              <a:rPr sz="2200">
                <a:solidFill>
                  <a:srgbClr val="FFFFFF"/>
                </a:solidFill>
              </a:rPr>
              <a:t>  (lefikhakh)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BD4FD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2004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</a:rPr>
              <a:t>CONSÉQUENCE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43000"/>
            <a:ext cx="841248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600" b="1">
                <a:solidFill>
                  <a:srgbClr val="FFFFFF"/>
                </a:solidFill>
              </a:rPr>
              <a:t>Finalement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200400"/>
            <a:ext cx="822960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>
                <a:solidFill>
                  <a:srgbClr val="FFFFFF"/>
                </a:solidFill>
              </a:rPr>
              <a:t>in the end</a:t>
            </a:r>
          </a:p>
          <a:p>
            <a:pPr algn="ctr"/>
            <a:r>
              <a:rPr sz="4000">
                <a:solidFill>
                  <a:srgbClr val="FFFFFF"/>
                </a:solidFill>
              </a:rPr>
              <a:t>בְּסוֹפוֹ שֶׁל דָּבָר</a:t>
            </a:r>
            <a:r>
              <a:rPr sz="2200">
                <a:solidFill>
                  <a:srgbClr val="FFFFFF"/>
                </a:solidFill>
              </a:rPr>
              <a:t>  (besofo shel davar)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14FC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2004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</a:rPr>
              <a:t>CAUSE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43000"/>
            <a:ext cx="841248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600" b="1">
                <a:solidFill>
                  <a:srgbClr val="FFFFFF"/>
                </a:solidFill>
              </a:rPr>
              <a:t>Parce que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200400"/>
            <a:ext cx="822960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>
                <a:solidFill>
                  <a:srgbClr val="FFFFFF"/>
                </a:solidFill>
              </a:rPr>
              <a:t>because</a:t>
            </a:r>
          </a:p>
          <a:p>
            <a:pPr algn="ctr"/>
            <a:r>
              <a:rPr sz="4000">
                <a:solidFill>
                  <a:srgbClr val="FFFFFF"/>
                </a:solidFill>
              </a:rPr>
              <a:t>מִשּׁוּם שֶׁ</a:t>
            </a:r>
            <a:r>
              <a:rPr sz="2200">
                <a:solidFill>
                  <a:srgbClr val="FFFFFF"/>
                </a:solidFill>
              </a:rPr>
              <a:t>  (mishum she)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14FA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2004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</a:rPr>
              <a:t>CAUSE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43000"/>
            <a:ext cx="841248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200" b="1">
                <a:solidFill>
                  <a:srgbClr val="FFFFFF"/>
                </a:solidFill>
              </a:rPr>
              <a:t>Puisque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200400"/>
            <a:ext cx="822960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>
                <a:solidFill>
                  <a:srgbClr val="FFFFFF"/>
                </a:solidFill>
              </a:rPr>
              <a:t>since, given that</a:t>
            </a:r>
          </a:p>
          <a:p>
            <a:pPr algn="ctr"/>
            <a:r>
              <a:rPr sz="4000">
                <a:solidFill>
                  <a:srgbClr val="FFFFFF"/>
                </a:solidFill>
              </a:rPr>
              <a:t>מִכֵּיוָן שֶׁ</a:t>
            </a:r>
            <a:r>
              <a:rPr sz="2200">
                <a:solidFill>
                  <a:srgbClr val="FFFFFF"/>
                </a:solidFill>
              </a:rPr>
              <a:t>  (mikeivan she)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14F8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2004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</a:rPr>
              <a:t>CAUSE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43000"/>
            <a:ext cx="841248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200" b="1">
                <a:solidFill>
                  <a:srgbClr val="FFFFFF"/>
                </a:solidFill>
              </a:rPr>
              <a:t>En effet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200400"/>
            <a:ext cx="822960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>
                <a:solidFill>
                  <a:srgbClr val="FFFFFF"/>
                </a:solidFill>
              </a:rPr>
              <a:t>indeed, in fact</a:t>
            </a:r>
          </a:p>
          <a:p>
            <a:pPr algn="ctr"/>
            <a:r>
              <a:rPr sz="4000">
                <a:solidFill>
                  <a:srgbClr val="FFFFFF"/>
                </a:solidFill>
              </a:rPr>
              <a:t>אָכֵן</a:t>
            </a:r>
            <a:r>
              <a:rPr sz="2200">
                <a:solidFill>
                  <a:srgbClr val="FFFFFF"/>
                </a:solidFill>
              </a:rPr>
              <a:t>  (akhen)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14F6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2004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</a:rPr>
              <a:t>OPPOSITION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43000"/>
            <a:ext cx="841248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600" b="1">
                <a:solidFill>
                  <a:srgbClr val="FFFFFF"/>
                </a:solidFill>
              </a:rPr>
              <a:t>Malgré tout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200400"/>
            <a:ext cx="822960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>
                <a:solidFill>
                  <a:srgbClr val="FFFFFF"/>
                </a:solidFill>
              </a:rPr>
              <a:t>nonetheless, despite all</a:t>
            </a:r>
          </a:p>
          <a:p>
            <a:pPr algn="ctr"/>
            <a:r>
              <a:rPr sz="4000">
                <a:solidFill>
                  <a:srgbClr val="FFFFFF"/>
                </a:solidFill>
              </a:rPr>
              <a:t>לַמְרוֹת הַכֹּל</a:t>
            </a:r>
            <a:r>
              <a:rPr sz="2200">
                <a:solidFill>
                  <a:srgbClr val="FFFFFF"/>
                </a:solidFill>
              </a:rPr>
              <a:t>  (lamrot hakol)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134</TotalTime>
  <Words>285</Words>
  <Application>Microsoft Macintosh PowerPoint</Application>
  <PresentationFormat>Affichage à l'écran (4:3)</PresentationFormat>
  <Paragraphs>106</Paragraphs>
  <Slides>27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27</vt:i4>
      </vt:variant>
    </vt:vector>
  </HeadingPairs>
  <TitlesOfParts>
    <vt:vector size="31" baseType="lpstr">
      <vt:lpstr>Aptos Display</vt:lpstr>
      <vt:lpstr>Arial</vt:lpstr>
      <vt:lpstr>Calibri</vt:lpstr>
      <vt:lpstr>Office Theme</vt:lpstr>
      <vt:lpstr>Connecteurs Mais · où · et · donc · or · ni · car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ELENA HAGEGE HERCOT</cp:lastModifiedBy>
  <cp:revision>4</cp:revision>
  <dcterms:created xsi:type="dcterms:W3CDTF">2013-01-27T09:14:16Z</dcterms:created>
  <dcterms:modified xsi:type="dcterms:W3CDTF">2026-06-17T23:45:10Z</dcterms:modified>
  <cp:category/>
</cp:coreProperties>
</file>