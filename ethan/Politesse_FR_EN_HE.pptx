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BE72"/>
    <a:srgbClr val="42A764"/>
    <a:srgbClr val="0A0C3A"/>
    <a:srgbClr val="0A0B35"/>
    <a:srgbClr val="14155E"/>
    <a:srgbClr val="BD9D34"/>
    <a:srgbClr val="949B82"/>
    <a:srgbClr val="979B74"/>
    <a:srgbClr val="9D8F76"/>
    <a:srgbClr val="F89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/>
    <p:restoredTop sz="94726"/>
  </p:normalViewPr>
  <p:slideViewPr>
    <p:cSldViewPr snapToGrid="0" snapToObjects="1">
      <p:cViewPr varScale="1">
        <p:scale>
          <a:sx n="116" d="100"/>
          <a:sy n="116" d="100"/>
        </p:scale>
        <p:origin x="12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A1E23-E3D2-0858-5FFB-DB6E5B8BD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699022"/>
            <a:ext cx="8595360" cy="2587228"/>
          </a:xfrm>
        </p:spPr>
        <p:txBody>
          <a:bodyPr>
            <a:normAutofit/>
          </a:bodyPr>
          <a:lstStyle/>
          <a:p>
            <a:r>
              <a:rPr sz="7200" b="1">
                <a:solidFill>
                  <a:srgbClr val="D94E1A"/>
                </a:solidFill>
                <a:latin typeface="Aptos Display"/>
              </a:rPr>
              <a:t>P</a:t>
            </a:r>
            <a:r>
              <a:rPr sz="7200" b="1">
                <a:solidFill>
                  <a:srgbClr val="D9551A"/>
                </a:solidFill>
                <a:latin typeface="Aptos Display"/>
              </a:rPr>
              <a:t>o</a:t>
            </a:r>
            <a:r>
              <a:rPr sz="7200" b="1">
                <a:solidFill>
                  <a:srgbClr val="D95C1A"/>
                </a:solidFill>
                <a:latin typeface="Aptos Display"/>
              </a:rPr>
              <a:t>l</a:t>
            </a:r>
            <a:r>
              <a:rPr sz="7200" b="1">
                <a:solidFill>
                  <a:srgbClr val="D9631A"/>
                </a:solidFill>
                <a:latin typeface="Aptos Display"/>
              </a:rPr>
              <a:t>i</a:t>
            </a:r>
            <a:r>
              <a:rPr sz="7200" b="1">
                <a:solidFill>
                  <a:srgbClr val="D96B1A"/>
                </a:solidFill>
                <a:latin typeface="Aptos Display"/>
              </a:rPr>
              <a:t>t</a:t>
            </a:r>
            <a:r>
              <a:rPr sz="7200" b="1">
                <a:solidFill>
                  <a:srgbClr val="D9721A"/>
                </a:solidFill>
                <a:latin typeface="Aptos Display"/>
              </a:rPr>
              <a:t>e</a:t>
            </a:r>
            <a:r>
              <a:rPr sz="7200" b="1">
                <a:solidFill>
                  <a:srgbClr val="D9791A"/>
                </a:solidFill>
                <a:latin typeface="Aptos Display"/>
              </a:rPr>
              <a:t>s</a:t>
            </a:r>
            <a:r>
              <a:rPr sz="7200" b="1">
                <a:solidFill>
                  <a:srgbClr val="D9801A"/>
                </a:solidFill>
                <a:latin typeface="Aptos Display"/>
              </a:rPr>
              <a:t>s</a:t>
            </a:r>
            <a:r>
              <a:rPr sz="7200" b="1">
                <a:solidFill>
                  <a:srgbClr val="D9871A"/>
                </a:solidFill>
                <a:latin typeface="Aptos Display"/>
              </a:rPr>
              <a:t>e</a:t>
            </a:r>
            <a:endParaRPr lang="en-US" sz="12000" b="1" dirty="0">
              <a:solidFill>
                <a:srgbClr val="F3F211"/>
              </a:solidFill>
            </a:endParaRPr>
          </a:p>
          <a:p>
            <a:pPr algn="ctr"/>
            <a:r>
              <a:rPr sz="2200" i="1">
                <a:solidFill>
                  <a:srgbClr val="B45A1E"/>
                </a:solidFill>
              </a:rPr>
              <a:t>bonjour · merci · pardon · s'il te plaît · au revoir…</a:t>
            </a:r>
          </a:p>
        </p:txBody>
      </p:sp>
    </p:spTree>
    <p:extLst>
      <p:ext uri="{BB962C8B-B14F-4D97-AF65-F5344CB8AC3E}">
        <p14:creationId xmlns:p14="http://schemas.microsoft.com/office/powerpoint/2010/main" val="143794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4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SALUTATIONS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40C05"/>
                </a:solidFill>
              </a:rPr>
              <a:t>Bonjour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Hello  ·  Good morning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שָׁלוֹם  ·  בּוֹקֶר טוֹב</a:t>
            </a:r>
            <a:r>
              <a:rPr sz="1600" b="0" i="0">
                <a:solidFill>
                  <a:srgbClr val="140C05"/>
                </a:solidFill>
              </a:rPr>
              <a:t>   (shalom · boker tov)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Bonjour, comment ça va ?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Hello, how are you?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שָׁלוֹם, מָה שְׁלוֹמְךָ?</a:t>
            </a:r>
            <a:r>
              <a:rPr sz="1400" b="0" i="0">
                <a:solidFill>
                  <a:srgbClr val="140C05"/>
                </a:solidFill>
              </a:rPr>
              <a:t>  (shalom, ma shlomcha?)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BC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SALUTATIONS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40C05"/>
                </a:solidFill>
              </a:rPr>
              <a:t>Bonsoir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Good evening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עֶרֶב טוֹב</a:t>
            </a:r>
            <a:r>
              <a:rPr sz="1600" b="0" i="0">
                <a:solidFill>
                  <a:srgbClr val="140C05"/>
                </a:solidFill>
              </a:rPr>
              <a:t>   (erev tov)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Bonsoir, bienvenue !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Good evening, welcome!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עֶרֶב טוֹב, בָּרוּךְ הַבָּא!</a:t>
            </a:r>
            <a:r>
              <a:rPr sz="1400" b="0" i="0">
                <a:solidFill>
                  <a:srgbClr val="140C05"/>
                </a:solidFill>
              </a:rPr>
              <a:t>  (erev tov, baruch haba!)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8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SALUTATIONS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Bonne nuit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Good night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לַיְלָה טוֹב</a:t>
            </a:r>
            <a:r>
              <a:rPr sz="1600" b="0" i="0">
                <a:solidFill>
                  <a:srgbClr val="FFFFFF"/>
                </a:solidFill>
              </a:rPr>
              <a:t>   (layla tov)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Bonne nuit, dors bien.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Good night, sleep well.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לַיְלָה טוֹב, תִּישַׁן טוֹב.</a:t>
            </a:r>
            <a:r>
              <a:rPr sz="1400" b="0" i="0">
                <a:solidFill>
                  <a:srgbClr val="FFFFFF"/>
                </a:solidFill>
              </a:rPr>
              <a:t>  (layla tov, tishan tov.)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6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SALUTATIONS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Au revoir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Goodbye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לְהִתְרָאוֹת</a:t>
            </a:r>
            <a:r>
              <a:rPr sz="1600" b="0" i="0">
                <a:solidFill>
                  <a:srgbClr val="FFFFFF"/>
                </a:solidFill>
              </a:rPr>
              <a:t>   (lehitra'ot)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Au revoir, à demain !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Goodbye, see you tomorrow!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לְהִתְרָאוֹת, נִתְרָאֶה מָחָר!</a:t>
            </a:r>
            <a:r>
              <a:rPr sz="1400" b="0" i="0">
                <a:solidFill>
                  <a:srgbClr val="FFFFFF"/>
                </a:solidFill>
              </a:rPr>
              <a:t>  (lehitra'ot, nitra'eh machar!)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8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SALUTATIONS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40C05"/>
                </a:solidFill>
              </a:rPr>
              <a:t>Salut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Familier.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Hi  ·  Bye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הַיי  ·  שָׁלוֹם</a:t>
            </a:r>
            <a:r>
              <a:rPr sz="1600" b="0" i="0">
                <a:solidFill>
                  <a:srgbClr val="140C05"/>
                </a:solidFill>
              </a:rPr>
              <a:t>   (hai · shalom)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Salut, ça va ?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Hi, how's it going?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הַיי, מָה נִשְׁמָע?</a:t>
            </a:r>
            <a:r>
              <a:rPr sz="1400" b="0" i="0">
                <a:solidFill>
                  <a:srgbClr val="140C05"/>
                </a:solidFill>
              </a:rPr>
              <a:t>  (hai, ma nishma?)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C2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SALUTATIONS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40C05"/>
                </a:solidFill>
              </a:rPr>
              <a:t>À bientôt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See you soon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לְהִתְרָאוֹת בְּקָרוֹב</a:t>
            </a:r>
            <a:r>
              <a:rPr sz="1600" b="0" i="0">
                <a:solidFill>
                  <a:srgbClr val="140C05"/>
                </a:solidFill>
              </a:rPr>
              <a:t>   (lehitra'ot bekarov)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À bientôt, prends soin de toi.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See you soon, take care.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לְהִתְרָאוֹת, תִּשְׁמֹר עַל עַצְמְךָ.</a:t>
            </a:r>
            <a:r>
              <a:rPr sz="1400" b="0" i="0">
                <a:solidFill>
                  <a:srgbClr val="140C05"/>
                </a:solidFill>
              </a:rPr>
              <a:t>  (lehitra'ot, tishmor al atzmecha.)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SALUTATIONS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Bienvenue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m. / f.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Welcome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בָּרוּךְ הַבָּא  ·  בְּרוּכָה הַבָּאָה</a:t>
            </a:r>
            <a:r>
              <a:rPr sz="1600" b="0" i="0">
                <a:solidFill>
                  <a:srgbClr val="FFFFFF"/>
                </a:solidFill>
              </a:rPr>
              <a:t>   (baruch haba · brucha haba'a)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Bienvenue chez nous !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Welcome to our home!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בָּרוּךְ הַבָּא אֵלֵינוּ!</a:t>
            </a:r>
            <a:r>
              <a:rPr sz="1400" b="0" i="0">
                <a:solidFill>
                  <a:srgbClr val="FFFFFF"/>
                </a:solidFill>
              </a:rPr>
              <a:t>  (baruch haba eleinu!)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6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REMERCIER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תּוֹדָה</a:t>
            </a:r>
            <a:r>
              <a:rPr sz="1600" b="0" i="0">
                <a:solidFill>
                  <a:srgbClr val="FFFFFF"/>
                </a:solidFill>
              </a:rPr>
              <a:t>   (toda)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Merci pour ton aide.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Thank you for your help.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תּוֹדָה עַל הָעֶזְרָה.</a:t>
            </a:r>
            <a:r>
              <a:rPr sz="1400" b="0" i="0">
                <a:solidFill>
                  <a:srgbClr val="FFFFFF"/>
                </a:solidFill>
              </a:rPr>
              <a:t>  (toda al ha'ezra.)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REMERCIER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0C05"/>
                </a:solidFill>
              </a:rPr>
              <a:t>Merci beaucoup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Thank you very much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תּוֹדָה רַבָּה</a:t>
            </a:r>
            <a:r>
              <a:rPr sz="1600" b="0" i="0">
                <a:solidFill>
                  <a:srgbClr val="140C05"/>
                </a:solidFill>
              </a:rPr>
              <a:t>   (toda raba)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Merci beaucoup pour le cadeau !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Thank you very much for the gift!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תּוֹדָה רַבָּה עַל הַמַּתָּנָה!</a:t>
            </a:r>
            <a:r>
              <a:rPr sz="1400" b="0" i="0">
                <a:solidFill>
                  <a:srgbClr val="140C05"/>
                </a:solidFill>
              </a:rPr>
              <a:t>  (toda raba al hamatana!)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C8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REMERCIER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40C05"/>
                </a:solidFill>
              </a:rPr>
              <a:t>De 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aussi : Je t'en prie  —  Réponse à « merci ».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You're welcome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עַל לֹא דָּבָר  ·  בְּבַקָּשָׁה</a:t>
            </a:r>
            <a:r>
              <a:rPr sz="1600" b="0" i="0">
                <a:solidFill>
                  <a:srgbClr val="140C05"/>
                </a:solidFill>
              </a:rPr>
              <a:t>   (al lo davar · bevakasha)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« Merci ! » « De rien. »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"Thanks!" "You're welcome."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„תּוֹדָה!” „עַל לֹא דָּבָר.”</a:t>
            </a:r>
            <a:r>
              <a:rPr sz="1400" b="0" i="0">
                <a:solidFill>
                  <a:srgbClr val="140C05"/>
                </a:solidFill>
              </a:rPr>
              <a:t>  (toda! al lo davar.)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9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DEMANDER · S'EXCUSER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S'il te plaît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aussi : S'il vous plaît  —  tutoiement / vouvoiement.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Please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בְּבַקָּשָׁה</a:t>
            </a:r>
            <a:r>
              <a:rPr sz="1600" b="0" i="0">
                <a:solidFill>
                  <a:srgbClr val="FFFFFF"/>
                </a:solidFill>
              </a:rPr>
              <a:t>   (bevakasha)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Un verre d'eau, s'il te plaît.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A glass of water, please.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כּוֹס מַיִם, בְּבַקָּשָׁה.</a:t>
            </a:r>
            <a:r>
              <a:rPr sz="1400" b="0" i="0">
                <a:solidFill>
                  <a:srgbClr val="FFFFFF"/>
                </a:solidFill>
              </a:rPr>
              <a:t>  (kos mayim, bevakasha.)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7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DEMANDER · S'EXCUSER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Pardon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aussi : Excuse-moi, Excusez-moi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Sorry  ·  Excuse me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סְלִיחָה</a:t>
            </a:r>
            <a:r>
              <a:rPr sz="1600" b="0" i="0">
                <a:solidFill>
                  <a:srgbClr val="FFFFFF"/>
                </a:solidFill>
              </a:rPr>
              <a:t>   (slicha)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Pardon, je suis en retard.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Sorry, I'm late.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סְלִיחָה, אֲנִי מְאַחֵר.</a:t>
            </a:r>
            <a:r>
              <a:rPr sz="1400" b="0" i="0">
                <a:solidFill>
                  <a:srgbClr val="FFFFFF"/>
                </a:solidFill>
              </a:rPr>
              <a:t>  (slicha, ani me'acher.)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4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DEMANDER · S'EXCUSER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0C05"/>
                </a:solidFill>
              </a:rPr>
              <a:t>Je suis désolé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aussi : Je suis désolée  —  m. / f.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I'm sorry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אֲנִי מִצְטַעֵר  ·  מִצְטַעֶרֶת</a:t>
            </a:r>
            <a:r>
              <a:rPr sz="1600" b="0" i="0">
                <a:solidFill>
                  <a:srgbClr val="140C05"/>
                </a:solidFill>
              </a:rPr>
              <a:t>   (ani mitsta'er · mitsta'eret)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Je suis désolé, c'est ma faute.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I'm sorry, it's my fault.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אֲנִי מִצְטַעֵר, זֹאת אַשְׁמָתִי.</a:t>
            </a:r>
            <a:r>
              <a:rPr sz="1400" b="0" i="0">
                <a:solidFill>
                  <a:srgbClr val="140C05"/>
                </a:solidFill>
              </a:rPr>
              <a:t>  (ani mitsta'er, zot ashmati.)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BC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DEMANDER · S'EXCUSER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40C05"/>
                </a:solidFill>
              </a:rPr>
              <a:t>Puis-je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aussi : Est-ce que je peux ?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May I?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אֶפְשָׁר?</a:t>
            </a:r>
            <a:r>
              <a:rPr sz="1600" b="0" i="0">
                <a:solidFill>
                  <a:srgbClr val="140C05"/>
                </a:solidFill>
              </a:rPr>
              <a:t>   (efshar?)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Puis-je entrer ?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May I come in?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אֶפְשָׁר לְהִכָּנֵס?</a:t>
            </a:r>
            <a:r>
              <a:rPr sz="1400" b="0" i="0">
                <a:solidFill>
                  <a:srgbClr val="140C05"/>
                </a:solidFill>
              </a:rPr>
              <a:t>  (efshar lehikanes?)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8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DEMANDER · S'EXCUSER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Pas de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No problem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אֵין בְּעָיָה</a:t>
            </a:r>
            <a:r>
              <a:rPr sz="1600" b="0" i="0">
                <a:solidFill>
                  <a:srgbClr val="FFFFFF"/>
                </a:solidFill>
              </a:rPr>
              <a:t>   (ein be'aya)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« Désolé ! » « Pas de problème. »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"Sorry!" "No problem."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„סְלִיחָה!” „אֵין בְּעָיָה.”</a:t>
            </a:r>
            <a:r>
              <a:rPr sz="1400" b="0" i="0">
                <a:solidFill>
                  <a:srgbClr val="FFFFFF"/>
                </a:solidFill>
              </a:rPr>
              <a:t>  (slicha! ein be'aya.)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6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BIENSÉANCE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Enchanté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aussi : Enchantée  —  m. / f.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Nice to meet you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נָעִים מְאוֹד</a:t>
            </a:r>
            <a:r>
              <a:rPr sz="1600" b="0" i="0">
                <a:solidFill>
                  <a:srgbClr val="FFFFFF"/>
                </a:solidFill>
              </a:rPr>
              <a:t>   (na'im me'od)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Enchanté de te rencontrer.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Nice to meet you.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נָעִים מְאוֹד לְהַכִּיר.</a:t>
            </a:r>
            <a:r>
              <a:rPr sz="1400" b="0" i="0">
                <a:solidFill>
                  <a:srgbClr val="FFFFFF"/>
                </a:solidFill>
              </a:rPr>
              <a:t>  (na'im me'od lehakir.)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8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BIENSÉANCE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0C05"/>
                </a:solidFill>
              </a:rPr>
              <a:t>Comment ça va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aussi : Comment allez-vous ?  —  שְׁלוֹמֵךְ (f. : shlomekh).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How are you?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מָה שְׁלוֹמְךָ?  ·  מָה נִשְׁמָע?</a:t>
            </a:r>
            <a:r>
              <a:rPr sz="1600" b="0" i="0">
                <a:solidFill>
                  <a:srgbClr val="140C05"/>
                </a:solidFill>
              </a:rPr>
              <a:t>   (ma shlomcha? · ma nishma?)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Bonjour ! Comment ça va ?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Hello! How are you?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שָׁלוֹם! מָה שְׁלוֹמְךָ?</a:t>
            </a:r>
            <a:r>
              <a:rPr sz="1400" b="0" i="0">
                <a:solidFill>
                  <a:srgbClr val="140C05"/>
                </a:solidFill>
              </a:rPr>
              <a:t>  (shalom! ma shlomcha?)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C2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BIENSÉANCE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0C05"/>
                </a:solidFill>
              </a:rPr>
              <a:t>Ça va bien, 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I'm fine, thank you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שְׁלוֹמִי טוֹב, תּוֹדָה</a:t>
            </a:r>
            <a:r>
              <a:rPr sz="1600" b="0" i="0">
                <a:solidFill>
                  <a:srgbClr val="140C05"/>
                </a:solidFill>
              </a:rPr>
              <a:t>   (shlomi tov, toda)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Ça va bien, merci, et toi ?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I'm fine, thank you, and you?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שְׁלוֹמִי טוֹב, תּוֹדָה, וְאַתָּה?</a:t>
            </a:r>
            <a:r>
              <a:rPr sz="1400" b="0" i="0">
                <a:solidFill>
                  <a:srgbClr val="140C05"/>
                </a:solidFill>
              </a:rPr>
              <a:t>  (shlomi tov, toda, ve'ata?)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BIENSÉANCE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Avec plaisir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aussi : Volontiers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With pleasure  ·  Gladly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בְּשִׂמְחָה  ·  בְּחֵפֶץ לֵב</a:t>
            </a:r>
            <a:r>
              <a:rPr sz="1600" b="0" i="0">
                <a:solidFill>
                  <a:srgbClr val="FFFFFF"/>
                </a:solidFill>
              </a:rPr>
              <a:t>   (besimcha · bechefetz lev)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« Tu viens ? » « Avec plaisir ! »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"Coming?" "With pleasure!"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„בָּא? ” „בְּשִׂמְחָה!”</a:t>
            </a:r>
            <a:r>
              <a:rPr sz="1400" b="0" i="0">
                <a:solidFill>
                  <a:srgbClr val="FFFFFF"/>
                </a:solidFill>
              </a:rPr>
              <a:t>  (ba? besimcha!)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6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BIENSÉANCE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Après vous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aussi : Après toi  —  m. / f.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After you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אַחֲרֶיךָ  ·  אַחֲרַיִךְ</a:t>
            </a:r>
            <a:r>
              <a:rPr sz="1600" b="0" i="0">
                <a:solidFill>
                  <a:srgbClr val="FFFFFF"/>
                </a:solidFill>
              </a:rPr>
              <a:t>   (acharecha · acharayich)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Après vous, je vous en prie.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After you, please.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אַחֲרֶיךָ, בְּבַקָּשָׁה.</a:t>
            </a:r>
            <a:r>
              <a:rPr sz="1400" b="0" i="0">
                <a:solidFill>
                  <a:srgbClr val="FFFFFF"/>
                </a:solidFill>
              </a:rPr>
              <a:t>  (acharecha, bevakasha.)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OCCASIONS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40C05"/>
                </a:solidFill>
              </a:rPr>
              <a:t>Bon appétit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Enjoy your meal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בְּתֵאָבוֹן</a:t>
            </a:r>
            <a:r>
              <a:rPr sz="1600" b="0" i="0">
                <a:solidFill>
                  <a:srgbClr val="140C05"/>
                </a:solidFill>
              </a:rPr>
              <a:t>   (bete'avon)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Bon appétit à tous !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Enjoy your meal, everyone!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בְּתֵאָבוֹן לְכֻלָּם!</a:t>
            </a:r>
            <a:r>
              <a:rPr sz="1400" b="0" i="0">
                <a:solidFill>
                  <a:srgbClr val="140C05"/>
                </a:solidFill>
              </a:rPr>
              <a:t>  (bete'avon lekulam!)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C8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OCCASIONS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40C05"/>
                </a:solidFill>
              </a:rPr>
              <a:t>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aussi : À ta santé  —  לְחַיִּים (trinquer) ; לַבְּרִיאוּת (éternuement).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Cheers  ·  Bless you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לְחַיִּים  ·  לַבְּרִיאוּת</a:t>
            </a:r>
            <a:r>
              <a:rPr sz="1600" b="0" i="0">
                <a:solidFill>
                  <a:srgbClr val="140C05"/>
                </a:solidFill>
              </a:rPr>
              <a:t>   (lechayim · labri'ut)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Santé ! À la tienne !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Cheers! To you!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לְחַיִּים!</a:t>
            </a:r>
            <a:r>
              <a:rPr sz="1400" b="0" i="0">
                <a:solidFill>
                  <a:srgbClr val="140C05"/>
                </a:solidFill>
              </a:rPr>
              <a:t>  (lechayim!)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9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OCCASIONS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Félicitations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Congratulations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מַזָּל טוֹב  ·  בִּרְכוֹתַי</a:t>
            </a:r>
            <a:r>
              <a:rPr sz="1600" b="0" i="0">
                <a:solidFill>
                  <a:srgbClr val="FFFFFF"/>
                </a:solidFill>
              </a:rPr>
              <a:t>   (mazal tov · birchotai)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Félicitations pour ta réussite !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Congratulations on your success!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מַזָּל טוֹב עַל הַהַצְלָחָה!</a:t>
            </a:r>
            <a:r>
              <a:rPr sz="1400" b="0" i="0">
                <a:solidFill>
                  <a:srgbClr val="FFFFFF"/>
                </a:solidFill>
              </a:rPr>
              <a:t>  (mazal tov al hahatslacha!)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7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OCCASIONS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Bonne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FFFFFF"/>
                </a:solidFill>
              </a:rPr>
              <a:t>Good luck</a:t>
            </a:r>
          </a:p>
          <a:p>
            <a:pPr algn="ctr"/>
            <a:r>
              <a:rPr sz="2800" b="0" i="0">
                <a:solidFill>
                  <a:srgbClr val="FFFFFF"/>
                </a:solidFill>
              </a:rPr>
              <a:t>בְּהַצְלָחָה</a:t>
            </a:r>
            <a:r>
              <a:rPr sz="1600" b="0" i="0">
                <a:solidFill>
                  <a:srgbClr val="FFFFFF"/>
                </a:solidFill>
              </a:rPr>
              <a:t>   (behatslacha)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FFFFFF"/>
                </a:solidFill>
              </a:rPr>
              <a:t>Ex :  Bonne chance pour l'examen !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Good luck on the exam!</a:t>
            </a:r>
          </a:p>
          <a:p>
            <a:pPr algn="ctr"/>
            <a:r>
              <a:rPr sz="2000" b="0" i="0">
                <a:solidFill>
                  <a:srgbClr val="FFFFFF"/>
                </a:solidFill>
              </a:rPr>
              <a:t>בְּהַצְלָחָה בַּמִּבְחָן!</a:t>
            </a:r>
            <a:r>
              <a:rPr sz="1400" b="0" i="0">
                <a:solidFill>
                  <a:srgbClr val="FFFFFF"/>
                </a:solidFill>
              </a:rPr>
              <a:t>  (behatslacha bamivchan!)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4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0C05"/>
                </a:solidFill>
              </a:rPr>
              <a:t>OCCASIONS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40C05"/>
                </a:solidFill>
              </a:rPr>
              <a:t>Joyeux anniversaire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2200" b="0" i="0">
                <a:solidFill>
                  <a:srgbClr val="140C05"/>
                </a:solidFill>
              </a:rPr>
              <a:t>Happy birthday</a:t>
            </a:r>
          </a:p>
          <a:p>
            <a:pPr algn="ctr"/>
            <a:r>
              <a:rPr sz="2800" b="0" i="0">
                <a:solidFill>
                  <a:srgbClr val="140C05"/>
                </a:solidFill>
              </a:rPr>
              <a:t>יוֹם הֻלֶּדֶת שָׂמֵחַ</a:t>
            </a:r>
            <a:r>
              <a:rPr sz="1600" b="0" i="0">
                <a:solidFill>
                  <a:srgbClr val="140C05"/>
                </a:solidFill>
              </a:rPr>
              <a:t>   (yom huledet sameach)</a:t>
            </a:r>
          </a:p>
          <a:p>
            <a:pPr algn="ctr"/>
            <a:r>
              <a:rPr sz="800" b="0" i="0">
                <a:solidFill>
                  <a:srgbClr val="140C05"/>
                </a:solidFill>
              </a:rPr>
              <a:t> </a:t>
            </a:r>
          </a:p>
          <a:p>
            <a:pPr algn="ctr"/>
            <a:r>
              <a:rPr sz="1600" b="1" i="0">
                <a:solidFill>
                  <a:srgbClr val="140C05"/>
                </a:solidFill>
              </a:rPr>
              <a:t>Ex :  Joyeux anniversaire à toi !</a:t>
            </a:r>
          </a:p>
          <a:p>
            <a:pPr algn="ctr"/>
            <a:r>
              <a:rPr sz="1400" b="0" i="0">
                <a:solidFill>
                  <a:srgbClr val="140C05"/>
                </a:solidFill>
              </a:rPr>
              <a:t>Happy birthday to you!</a:t>
            </a:r>
          </a:p>
          <a:p>
            <a:pPr algn="ctr"/>
            <a:r>
              <a:rPr sz="2000" b="0" i="0">
                <a:solidFill>
                  <a:srgbClr val="140C05"/>
                </a:solidFill>
              </a:rPr>
              <a:t>יוֹם הֻלֶּדֶת שָׂמֵחַ!</a:t>
            </a:r>
            <a:r>
              <a:rPr sz="1400" b="0" i="0">
                <a:solidFill>
                  <a:srgbClr val="140C05"/>
                </a:solidFill>
              </a:rPr>
              <a:t>  (yom huledet sameach!)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1117</Words>
  <Application>Microsoft Macintosh PowerPoint</Application>
  <PresentationFormat>Affichage à l'écran (4:3)</PresentationFormat>
  <Paragraphs>227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Aptos Display</vt:lpstr>
      <vt:lpstr>Arial</vt:lpstr>
      <vt:lpstr>Calibri</vt:lpstr>
      <vt:lpstr>Office Theme</vt:lpstr>
      <vt:lpstr>Politesse bonjour · merci · pardon · s'il te plaît · au revoir…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HAGEGE HERCOT</cp:lastModifiedBy>
  <cp:revision>4</cp:revision>
  <dcterms:created xsi:type="dcterms:W3CDTF">2013-01-27T09:14:16Z</dcterms:created>
  <dcterms:modified xsi:type="dcterms:W3CDTF">2026-06-30T08:33:05Z</dcterms:modified>
  <cp:category/>
</cp:coreProperties>
</file>